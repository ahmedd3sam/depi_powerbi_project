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D634-4DDA-4407-8520-3DB9E0D9BBC1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276-6B67-4735-95A5-1F6A40CF37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D634-4DDA-4407-8520-3DB9E0D9BBC1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276-6B67-4735-95A5-1F6A40CF37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D634-4DDA-4407-8520-3DB9E0D9BBC1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276-6B67-4735-95A5-1F6A40CF37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D634-4DDA-4407-8520-3DB9E0D9BBC1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276-6B67-4735-95A5-1F6A40CF37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D634-4DDA-4407-8520-3DB9E0D9BBC1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276-6B67-4735-95A5-1F6A40CF37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D634-4DDA-4407-8520-3DB9E0D9BBC1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276-6B67-4735-95A5-1F6A40CF37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D634-4DDA-4407-8520-3DB9E0D9BBC1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276-6B67-4735-95A5-1F6A40CF37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D634-4DDA-4407-8520-3DB9E0D9BBC1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276-6B67-4735-95A5-1F6A40CF37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D634-4DDA-4407-8520-3DB9E0D9BBC1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276-6B67-4735-95A5-1F6A40CF37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D634-4DDA-4407-8520-3DB9E0D9BBC1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276-6B67-4735-95A5-1F6A40CF37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D634-4DDA-4407-8520-3DB9E0D9BBC1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8B276-6B67-4735-95A5-1F6A40CF37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20D634-4DDA-4407-8520-3DB9E0D9BBC1}" type="datetimeFigureOut">
              <a:rPr lang="en-US" smtClean="0"/>
              <a:pPr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A8B276-6B67-4735-95A5-1F6A40CF37E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7772400" cy="1371600"/>
          </a:xfrm>
        </p:spPr>
        <p:txBody>
          <a:bodyPr>
            <a:normAutofit/>
          </a:bodyPr>
          <a:lstStyle/>
          <a:p>
            <a:r>
              <a:rPr lang="fr-FR" sz="4800" b="1" dirty="0" smtClean="0">
                <a:solidFill>
                  <a:schemeClr val="bg1"/>
                </a:solidFill>
              </a:rPr>
              <a:t>UK Train Rides</a:t>
            </a:r>
            <a:r>
              <a:rPr lang="en-US" sz="4800" b="1" dirty="0">
                <a:solidFill>
                  <a:schemeClr val="bg1"/>
                </a:solidFill>
              </a:rPr>
              <a:t> Dashboard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5562600"/>
            <a:ext cx="6400800" cy="685800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chemeClr val="bg1"/>
                </a:solidFill>
              </a:rPr>
              <a:t>DEPI3-Data </a:t>
            </a:r>
            <a:r>
              <a:rPr lang="en-US" sz="2800" b="1" dirty="0" err="1" smtClean="0">
                <a:solidFill>
                  <a:schemeClr val="bg1"/>
                </a:solidFill>
              </a:rPr>
              <a:t>Analysis_Power</a:t>
            </a:r>
            <a:r>
              <a:rPr lang="en-US" sz="2800" b="1" dirty="0" smtClean="0">
                <a:solidFill>
                  <a:schemeClr val="bg1"/>
                </a:solidFill>
              </a:rPr>
              <a:t> Bi</a:t>
            </a:r>
            <a:endParaRPr lang="en-US" sz="2800" b="1" dirty="0">
              <a:solidFill>
                <a:schemeClr val="bg1"/>
              </a:solidFill>
            </a:endParaRPr>
          </a:p>
        </p:txBody>
      </p:sp>
      <p:pic>
        <p:nvPicPr>
          <p:cNvPr id="8" name="Picture 7" descr="download 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12596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subTitle" idx="1"/>
          </p:nvPr>
        </p:nvSpPr>
        <p:spPr>
          <a:xfrm>
            <a:off x="762000" y="838200"/>
            <a:ext cx="7467600" cy="52578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tx1"/>
                </a:solidFill>
              </a:rPr>
              <a:t>Prepared By</a:t>
            </a:r>
          </a:p>
          <a:p>
            <a:pPr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Ahmed </a:t>
            </a:r>
            <a:r>
              <a:rPr lang="en-US" sz="2800" dirty="0" err="1">
                <a:solidFill>
                  <a:schemeClr val="tx1"/>
                </a:solidFill>
              </a:rPr>
              <a:t>Essam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Eldin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Abd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Elfattah</a:t>
            </a:r>
            <a:endParaRPr lang="en-US" sz="2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>
                <a:solidFill>
                  <a:schemeClr val="tx1"/>
                </a:solidFill>
              </a:rPr>
              <a:t>Ahmed Ibrahim </a:t>
            </a:r>
            <a:r>
              <a:rPr lang="en-US" sz="2800" dirty="0" err="1">
                <a:solidFill>
                  <a:schemeClr val="tx1"/>
                </a:solidFill>
              </a:rPr>
              <a:t>Abdelhamid</a:t>
            </a:r>
            <a:endParaRPr lang="en-US" sz="2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 err="1">
                <a:solidFill>
                  <a:schemeClr val="tx1"/>
                </a:solidFill>
              </a:rPr>
              <a:t>Amr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Essam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Fathy</a:t>
            </a:r>
            <a:endParaRPr lang="en-US" sz="2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 err="1">
                <a:solidFill>
                  <a:schemeClr val="tx1"/>
                </a:solidFill>
              </a:rPr>
              <a:t>Eslam</a:t>
            </a:r>
            <a:r>
              <a:rPr lang="en-US" sz="2800" dirty="0">
                <a:solidFill>
                  <a:schemeClr val="tx1"/>
                </a:solidFill>
              </a:rPr>
              <a:t> Mohamed </a:t>
            </a:r>
            <a:r>
              <a:rPr lang="en-US" sz="2800" dirty="0" err="1">
                <a:solidFill>
                  <a:schemeClr val="tx1"/>
                </a:solidFill>
              </a:rPr>
              <a:t>Abd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Elfattah</a:t>
            </a:r>
            <a:endParaRPr lang="en-US" sz="2800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800" dirty="0" err="1">
                <a:solidFill>
                  <a:schemeClr val="tx1"/>
                </a:solidFill>
              </a:rPr>
              <a:t>Reham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Mahmoud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Moustafa</a:t>
            </a:r>
            <a:r>
              <a:rPr lang="en-US" sz="2800" dirty="0">
                <a:solidFill>
                  <a:schemeClr val="tx1"/>
                </a:solidFill>
              </a:rPr>
              <a:t> </a:t>
            </a:r>
            <a:r>
              <a:rPr lang="en-US" sz="2800" dirty="0" err="1">
                <a:solidFill>
                  <a:schemeClr val="tx1"/>
                </a:solidFill>
              </a:rPr>
              <a:t>Shaarawy</a:t>
            </a:r>
            <a:endParaRPr lang="en-US" sz="28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1470025"/>
          </a:xfrm>
        </p:spPr>
        <p:txBody>
          <a:bodyPr/>
          <a:lstStyle/>
          <a:p>
            <a:r>
              <a:rPr lang="en-US" b="1" dirty="0"/>
              <a:t>Project </a:t>
            </a:r>
            <a:r>
              <a:rPr lang="en-US" b="1" dirty="0" smtClean="0"/>
              <a:t>Overview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38400"/>
            <a:ext cx="6400800" cy="2819400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sz="3300" dirty="0">
                <a:solidFill>
                  <a:schemeClr val="tx1"/>
                </a:solidFill>
              </a:rPr>
              <a:t>Our project focuses on analysis of UK railway operations from January to April 2024 using Power BI. . Our goal is to provide key insights to improve service performance and increase passenger satisfaction.</a:t>
            </a:r>
          </a:p>
          <a:p>
            <a:pPr>
              <a:lnSpc>
                <a:spcPct val="16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6800"/>
            <a:ext cx="7772400" cy="1470025"/>
          </a:xfrm>
        </p:spPr>
        <p:txBody>
          <a:bodyPr/>
          <a:lstStyle/>
          <a:p>
            <a:r>
              <a:rPr lang="en-US" b="1" dirty="0"/>
              <a:t>Data Description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14600"/>
            <a:ext cx="6400800" cy="17526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The original dataset is CSV file which consists of 18 columns. The file was imported into Power BI Desktop for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228601"/>
            <a:ext cx="7772400" cy="990599"/>
          </a:xfrm>
        </p:spPr>
        <p:txBody>
          <a:bodyPr/>
          <a:lstStyle/>
          <a:p>
            <a:r>
              <a:rPr lang="en-US" b="1" dirty="0"/>
              <a:t>Data Cleaning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295400"/>
            <a:ext cx="7772400" cy="51816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Power Query Editor (Before Cleaning)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 descr="2025-10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57399"/>
            <a:ext cx="7924800" cy="44555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0"/>
            <a:ext cx="77724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Data Cleaning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219200"/>
            <a:ext cx="8305800" cy="52578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4000" b="1" dirty="0" smtClean="0">
                <a:solidFill>
                  <a:schemeClr val="tx1"/>
                </a:solidFill>
              </a:rPr>
              <a:t>The following steps were taken:</a:t>
            </a:r>
          </a:p>
          <a:p>
            <a:pPr lvl="0" algn="just"/>
            <a:endParaRPr lang="en-US" sz="2300" dirty="0" smtClean="0">
              <a:solidFill>
                <a:schemeClr val="tx1"/>
              </a:solidFill>
            </a:endParaRPr>
          </a:p>
          <a:p>
            <a:pPr lvl="0" algn="just">
              <a:buFont typeface="Wingdings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</a:rPr>
              <a:t>No duplicated records were found.</a:t>
            </a:r>
          </a:p>
          <a:p>
            <a:pPr lvl="0" algn="just">
              <a:buFont typeface="Wingdings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</a:rPr>
              <a:t>Replace “</a:t>
            </a:r>
            <a:r>
              <a:rPr lang="en-US" b="1" dirty="0" smtClean="0">
                <a:solidFill>
                  <a:schemeClr val="tx1"/>
                </a:solidFill>
              </a:rPr>
              <a:t>None</a:t>
            </a:r>
            <a:r>
              <a:rPr lang="en-US" dirty="0" smtClean="0">
                <a:solidFill>
                  <a:schemeClr val="tx1"/>
                </a:solidFill>
              </a:rPr>
              <a:t>” in </a:t>
            </a:r>
            <a:r>
              <a:rPr lang="en-US" dirty="0" err="1" smtClean="0">
                <a:solidFill>
                  <a:schemeClr val="tx1"/>
                </a:solidFill>
              </a:rPr>
              <a:t>Railcard</a:t>
            </a:r>
            <a:r>
              <a:rPr lang="en-US" dirty="0" smtClean="0">
                <a:solidFill>
                  <a:schemeClr val="tx1"/>
                </a:solidFill>
              </a:rPr>
              <a:t> column with “</a:t>
            </a:r>
            <a:r>
              <a:rPr lang="en-US" b="1" dirty="0" smtClean="0">
                <a:solidFill>
                  <a:schemeClr val="tx1"/>
                </a:solidFill>
              </a:rPr>
              <a:t>No Card</a:t>
            </a:r>
            <a:r>
              <a:rPr lang="en-US" dirty="0" smtClean="0">
                <a:solidFill>
                  <a:schemeClr val="tx1"/>
                </a:solidFill>
              </a:rPr>
              <a:t>”.</a:t>
            </a:r>
          </a:p>
          <a:p>
            <a:pPr lvl="0" algn="just">
              <a:buFont typeface="Wingdings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</a:rPr>
              <a:t>Replace </a:t>
            </a:r>
            <a:r>
              <a:rPr lang="en-US" b="1" dirty="0" smtClean="0">
                <a:solidFill>
                  <a:schemeClr val="tx1"/>
                </a:solidFill>
              </a:rPr>
              <a:t>blank</a:t>
            </a:r>
            <a:r>
              <a:rPr lang="en-US" dirty="0" smtClean="0">
                <a:solidFill>
                  <a:schemeClr val="tx1"/>
                </a:solidFill>
              </a:rPr>
              <a:t> in Reason for Delay column with </a:t>
            </a:r>
            <a:r>
              <a:rPr lang="en-US" b="1" dirty="0" smtClean="0">
                <a:solidFill>
                  <a:schemeClr val="tx1"/>
                </a:solidFill>
              </a:rPr>
              <a:t>“No Delay”.</a:t>
            </a:r>
            <a:endParaRPr lang="en-US" dirty="0" smtClean="0">
              <a:solidFill>
                <a:schemeClr val="tx1"/>
              </a:solidFill>
            </a:endParaRPr>
          </a:p>
          <a:p>
            <a:pPr lvl="0" algn="just">
              <a:buFont typeface="Wingdings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</a:rPr>
              <a:t>Replace </a:t>
            </a:r>
            <a:r>
              <a:rPr lang="en-US" b="1" dirty="0" smtClean="0">
                <a:solidFill>
                  <a:schemeClr val="tx1"/>
                </a:solidFill>
              </a:rPr>
              <a:t>“Weather”</a:t>
            </a:r>
            <a:r>
              <a:rPr lang="en-US" dirty="0" smtClean="0">
                <a:solidFill>
                  <a:schemeClr val="tx1"/>
                </a:solidFill>
              </a:rPr>
              <a:t> in Reason for Delay column with </a:t>
            </a:r>
            <a:r>
              <a:rPr lang="en-US" b="1" dirty="0" smtClean="0">
                <a:solidFill>
                  <a:schemeClr val="tx1"/>
                </a:solidFill>
              </a:rPr>
              <a:t>“Weather Conditions”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lvl="0" algn="just">
              <a:buFont typeface="Wingdings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</a:rPr>
              <a:t>Replace </a:t>
            </a:r>
            <a:r>
              <a:rPr lang="en-US" b="1" dirty="0" smtClean="0">
                <a:solidFill>
                  <a:schemeClr val="tx1"/>
                </a:solidFill>
              </a:rPr>
              <a:t>“Staffing” </a:t>
            </a:r>
            <a:r>
              <a:rPr lang="en-US" dirty="0" smtClean="0">
                <a:solidFill>
                  <a:schemeClr val="tx1"/>
                </a:solidFill>
              </a:rPr>
              <a:t>in Reason for Delay column with </a:t>
            </a:r>
            <a:r>
              <a:rPr lang="en-US" b="1" dirty="0" smtClean="0">
                <a:solidFill>
                  <a:schemeClr val="tx1"/>
                </a:solidFill>
              </a:rPr>
              <a:t>“Staffing shortage”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lvl="0" algn="just">
              <a:buFont typeface="Wingdings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</a:rPr>
              <a:t>Replace </a:t>
            </a:r>
            <a:r>
              <a:rPr lang="en-US" b="1" dirty="0" smtClean="0">
                <a:solidFill>
                  <a:schemeClr val="tx1"/>
                </a:solidFill>
              </a:rPr>
              <a:t>“Signal failure” </a:t>
            </a:r>
            <a:r>
              <a:rPr lang="en-US" dirty="0" smtClean="0">
                <a:solidFill>
                  <a:schemeClr val="tx1"/>
                </a:solidFill>
              </a:rPr>
              <a:t>in Reason for Delay column with </a:t>
            </a:r>
            <a:r>
              <a:rPr lang="en-US" b="1" dirty="0" smtClean="0">
                <a:solidFill>
                  <a:schemeClr val="tx1"/>
                </a:solidFill>
              </a:rPr>
              <a:t>“Signal Failure”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lvl="0" algn="just">
              <a:buFont typeface="Wingdings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</a:rPr>
              <a:t>Add new column called </a:t>
            </a:r>
            <a:r>
              <a:rPr lang="en-US" b="1" dirty="0" smtClean="0">
                <a:solidFill>
                  <a:schemeClr val="tx1"/>
                </a:solidFill>
              </a:rPr>
              <a:t>“Reservation Period In Days”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lvl="0" algn="just">
              <a:buFont typeface="Wingdings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</a:rPr>
              <a:t>Add new column called </a:t>
            </a:r>
            <a:r>
              <a:rPr lang="en-US" b="1" dirty="0" smtClean="0">
                <a:solidFill>
                  <a:schemeClr val="tx1"/>
                </a:solidFill>
              </a:rPr>
              <a:t>“Delayed In Minutes”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lvl="0" algn="just">
              <a:buFont typeface="Wingdings" pitchFamily="2" charset="2"/>
              <a:buChar char="§"/>
            </a:pPr>
            <a:r>
              <a:rPr lang="en-US" dirty="0" smtClean="0">
                <a:solidFill>
                  <a:schemeClr val="tx1"/>
                </a:solidFill>
              </a:rPr>
              <a:t>Add new column called </a:t>
            </a:r>
            <a:r>
              <a:rPr lang="en-US" b="1" dirty="0" smtClean="0">
                <a:solidFill>
                  <a:schemeClr val="tx1"/>
                </a:solidFill>
              </a:rPr>
              <a:t>“Day of Journey”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228600"/>
            <a:ext cx="7772400" cy="914400"/>
          </a:xfrm>
        </p:spPr>
        <p:txBody>
          <a:bodyPr>
            <a:normAutofit/>
          </a:bodyPr>
          <a:lstStyle/>
          <a:p>
            <a:r>
              <a:rPr lang="en-US" b="1" dirty="0" smtClean="0"/>
              <a:t>Data Cleaning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066800"/>
            <a:ext cx="7848600" cy="52578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Power Query </a:t>
            </a:r>
            <a:r>
              <a:rPr lang="en-US" sz="2800" dirty="0" smtClean="0">
                <a:solidFill>
                  <a:schemeClr val="tx1"/>
                </a:solidFill>
              </a:rPr>
              <a:t>Editor (After Cleaning)</a:t>
            </a:r>
          </a:p>
          <a:p>
            <a:endParaRPr lang="en-US" sz="2800" dirty="0" smtClean="0">
              <a:solidFill>
                <a:schemeClr val="tx1"/>
              </a:solidFill>
            </a:endParaRPr>
          </a:p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 descr="2025-10-01 (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676400"/>
            <a:ext cx="772537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04800"/>
            <a:ext cx="7772400" cy="914400"/>
          </a:xfrm>
        </p:spPr>
        <p:txBody>
          <a:bodyPr>
            <a:normAutofit/>
          </a:bodyPr>
          <a:lstStyle/>
          <a:p>
            <a:r>
              <a:rPr lang="en-US" altLang="zh-CN" b="1" dirty="0" smtClean="0">
                <a:solidFill>
                  <a:srgbClr val="1B1B1B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ea typeface="阿里巴巴普惠体 Medium" pitchFamily="18" charset="-122"/>
              </a:rPr>
              <a:t>Data </a:t>
            </a:r>
            <a:r>
              <a:rPr lang="en-US" altLang="zh-CN" b="1" dirty="0" smtClean="0">
                <a:solidFill>
                  <a:srgbClr val="1B1B1B"/>
                </a:solidFill>
                <a:effectLst>
                  <a:outerShdw blurRad="25400" dist="25400" dir="2700000" algn="tl">
                    <a:srgbClr val="000000">
                      <a:alpha val="25000"/>
                    </a:srgbClr>
                  </a:outerShdw>
                </a:effectLst>
                <a:ea typeface="阿里巴巴普惠体 Medium" pitchFamily="18" charset="-122"/>
              </a:rPr>
              <a:t>Modeling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219200"/>
            <a:ext cx="7467600" cy="4876800"/>
          </a:xfrm>
        </p:spPr>
        <p:txBody>
          <a:bodyPr>
            <a:normAutofit/>
          </a:bodyPr>
          <a:lstStyle/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43000"/>
            <a:ext cx="8165974" cy="54009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85800"/>
            <a:ext cx="7772400" cy="9144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1828800"/>
            <a:ext cx="5562600" cy="3657600"/>
          </a:xfrm>
        </p:spPr>
        <p:txBody>
          <a:bodyPr>
            <a:normAutofit/>
          </a:bodyPr>
          <a:lstStyle/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3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685800"/>
            <a:ext cx="7772400" cy="9144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1828800"/>
            <a:ext cx="5562600" cy="3657600"/>
          </a:xfrm>
        </p:spPr>
        <p:txBody>
          <a:bodyPr>
            <a:normAutofit/>
          </a:bodyPr>
          <a:lstStyle/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219</Words>
  <Application>Microsoft Office PowerPoint</Application>
  <PresentationFormat>On-screen Show (4:3)</PresentationFormat>
  <Paragraphs>29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UK Train Rides Dashboard</vt:lpstr>
      <vt:lpstr>Slide 2</vt:lpstr>
      <vt:lpstr>Project Overview</vt:lpstr>
      <vt:lpstr>Data Description </vt:lpstr>
      <vt:lpstr>Data Cleaning</vt:lpstr>
      <vt:lpstr>Data Cleaning</vt:lpstr>
      <vt:lpstr>Data Cleaning</vt:lpstr>
      <vt:lpstr>Data Modeling</vt:lpstr>
      <vt:lpstr>Slide 9</vt:lpstr>
      <vt:lpstr>Slide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 Train Rides</dc:title>
  <dc:creator>user</dc:creator>
  <cp:lastModifiedBy>user</cp:lastModifiedBy>
  <cp:revision>19</cp:revision>
  <dcterms:created xsi:type="dcterms:W3CDTF">2025-10-01T05:52:01Z</dcterms:created>
  <dcterms:modified xsi:type="dcterms:W3CDTF">2025-10-01T07:13:15Z</dcterms:modified>
</cp:coreProperties>
</file>