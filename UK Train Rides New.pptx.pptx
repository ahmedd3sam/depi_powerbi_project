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webextensions/webextension1.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Lst>
  <p:sldSz cx="18288000" cy="10287000"/>
  <p:notesSz cx="6858000" cy="9144000"/>
  <p:embeddedFontLst>
    <p:embeddedFont>
      <p:font typeface="Arial Bold" panose="020B0704020202020204" pitchFamily="34" charset="0"/>
      <p:regular r:id="rId28"/>
      <p:bold r:id="rId29"/>
    </p:embeddedFont>
    <p:embeddedFont>
      <p:font typeface="Poppins" panose="00000500000000000000" pitchFamily="2" charset="0"/>
      <p:regular r:id="rId30"/>
      <p:bold r:id="rId31"/>
      <p:italic r:id="rId32"/>
      <p:boldItalic r:id="rId33"/>
    </p:embeddedFont>
    <p:embeddedFont>
      <p:font typeface="Poppins Bold" panose="00000800000000000000" charset="0"/>
      <p:regular r:id="rId34"/>
    </p:embeddedFont>
    <p:embeddedFont>
      <p:font typeface="Segoe UI Light" panose="020B0502040204020203" pitchFamily="34" charset="0"/>
      <p:regular r:id="rId35"/>
      <p: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9.pn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9.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10800000">
            <a:off x="5282424" y="9238238"/>
            <a:ext cx="13031002" cy="1059150"/>
            <a:chOff x="0" y="0"/>
            <a:chExt cx="17374669" cy="1412200"/>
          </a:xfrm>
        </p:grpSpPr>
        <p:sp>
          <p:nvSpPr>
            <p:cNvPr id="5" name="Freeform 5"/>
            <p:cNvSpPr/>
            <p:nvPr/>
          </p:nvSpPr>
          <p:spPr>
            <a:xfrm>
              <a:off x="0" y="0"/>
              <a:ext cx="17374615" cy="1412240"/>
            </a:xfrm>
            <a:custGeom>
              <a:avLst/>
              <a:gdLst/>
              <a:ahLst/>
              <a:cxnLst/>
              <a:rect l="l" t="t" r="r" b="b"/>
              <a:pathLst>
                <a:path w="17374615" h="1412240">
                  <a:moveTo>
                    <a:pt x="0" y="0"/>
                  </a:moveTo>
                  <a:lnTo>
                    <a:pt x="17374615" y="0"/>
                  </a:lnTo>
                  <a:lnTo>
                    <a:pt x="17374615" y="1412240"/>
                  </a:lnTo>
                  <a:lnTo>
                    <a:pt x="0" y="1412240"/>
                  </a:lnTo>
                  <a:lnTo>
                    <a:pt x="0" y="0"/>
                  </a:lnTo>
                  <a:close/>
                </a:path>
              </a:pathLst>
            </a:custGeom>
            <a:blipFill>
              <a:blip r:embed="rId4"/>
              <a:stretch>
                <a:fillRect t="-22729" b="-22726"/>
              </a:stretch>
            </a:blipFill>
          </p:spPr>
          <p:txBody>
            <a:bodyPr/>
            <a:lstStyle/>
            <a:p>
              <a:endParaRPr lang="en-US"/>
            </a:p>
          </p:txBody>
        </p:sp>
      </p:grpSp>
      <p:grpSp>
        <p:nvGrpSpPr>
          <p:cNvPr id="6" name="Group 6"/>
          <p:cNvGrpSpPr>
            <a:grpSpLocks noChangeAspect="1"/>
          </p:cNvGrpSpPr>
          <p:nvPr/>
        </p:nvGrpSpPr>
        <p:grpSpPr>
          <a:xfrm rot="-10800000">
            <a:off x="14615776" y="9698824"/>
            <a:ext cx="3170928" cy="138000"/>
            <a:chOff x="0" y="0"/>
            <a:chExt cx="4227904" cy="184000"/>
          </a:xfrm>
        </p:grpSpPr>
        <p:sp>
          <p:nvSpPr>
            <p:cNvPr id="7" name="Freeform 7"/>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8" name="Group 8"/>
          <p:cNvGrpSpPr>
            <a:grpSpLocks noChangeAspect="1"/>
          </p:cNvGrpSpPr>
          <p:nvPr/>
        </p:nvGrpSpPr>
        <p:grpSpPr>
          <a:xfrm>
            <a:off x="-13650" y="3226"/>
            <a:ext cx="13047052" cy="1072100"/>
            <a:chOff x="0" y="0"/>
            <a:chExt cx="17396069" cy="1429467"/>
          </a:xfrm>
        </p:grpSpPr>
        <p:sp>
          <p:nvSpPr>
            <p:cNvPr id="9" name="Freeform 9"/>
            <p:cNvSpPr/>
            <p:nvPr/>
          </p:nvSpPr>
          <p:spPr>
            <a:xfrm>
              <a:off x="0" y="0"/>
              <a:ext cx="17396079" cy="1429512"/>
            </a:xfrm>
            <a:custGeom>
              <a:avLst/>
              <a:gdLst/>
              <a:ahLst/>
              <a:cxnLst/>
              <a:rect l="l" t="t" r="r" b="b"/>
              <a:pathLst>
                <a:path w="17396079" h="1429512">
                  <a:moveTo>
                    <a:pt x="0" y="0"/>
                  </a:moveTo>
                  <a:lnTo>
                    <a:pt x="17396079" y="0"/>
                  </a:lnTo>
                  <a:lnTo>
                    <a:pt x="17396079" y="1429512"/>
                  </a:lnTo>
                  <a:lnTo>
                    <a:pt x="0" y="1429512"/>
                  </a:lnTo>
                  <a:lnTo>
                    <a:pt x="0" y="0"/>
                  </a:lnTo>
                  <a:close/>
                </a:path>
              </a:pathLst>
            </a:custGeom>
            <a:blipFill>
              <a:blip r:embed="rId6"/>
              <a:stretch>
                <a:fillRect t="-21939" b="-21936"/>
              </a:stretch>
            </a:blipFill>
          </p:spPr>
          <p:txBody>
            <a:bodyPr/>
            <a:lstStyle/>
            <a:p>
              <a:endParaRPr lang="en-US"/>
            </a:p>
          </p:txBody>
        </p:sp>
      </p:grpSp>
      <p:grpSp>
        <p:nvGrpSpPr>
          <p:cNvPr id="10" name="Group 10"/>
          <p:cNvGrpSpPr>
            <a:grpSpLocks noChangeAspect="1"/>
          </p:cNvGrpSpPr>
          <p:nvPr/>
        </p:nvGrpSpPr>
        <p:grpSpPr>
          <a:xfrm>
            <a:off x="516600" y="496436"/>
            <a:ext cx="3170928" cy="138000"/>
            <a:chOff x="0" y="0"/>
            <a:chExt cx="4227904" cy="184000"/>
          </a:xfrm>
        </p:grpSpPr>
        <p:sp>
          <p:nvSpPr>
            <p:cNvPr id="11" name="Freeform 11"/>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12" name="Group 12"/>
          <p:cNvGrpSpPr>
            <a:grpSpLocks noChangeAspect="1"/>
          </p:cNvGrpSpPr>
          <p:nvPr/>
        </p:nvGrpSpPr>
        <p:grpSpPr>
          <a:xfrm>
            <a:off x="15798538" y="-14800"/>
            <a:ext cx="2503100" cy="2503100"/>
            <a:chOff x="0" y="0"/>
            <a:chExt cx="3337467" cy="3337467"/>
          </a:xfrm>
        </p:grpSpPr>
        <p:sp>
          <p:nvSpPr>
            <p:cNvPr id="13" name="Freeform 13"/>
            <p:cNvSpPr/>
            <p:nvPr/>
          </p:nvSpPr>
          <p:spPr>
            <a:xfrm>
              <a:off x="0" y="0"/>
              <a:ext cx="3337433" cy="3337433"/>
            </a:xfrm>
            <a:custGeom>
              <a:avLst/>
              <a:gdLst/>
              <a:ahLst/>
              <a:cxnLst/>
              <a:rect l="l" t="t" r="r" b="b"/>
              <a:pathLst>
                <a:path w="3337433" h="3337433">
                  <a:moveTo>
                    <a:pt x="0" y="0"/>
                  </a:moveTo>
                  <a:lnTo>
                    <a:pt x="3337433" y="0"/>
                  </a:lnTo>
                  <a:lnTo>
                    <a:pt x="3337433" y="3337433"/>
                  </a:lnTo>
                  <a:lnTo>
                    <a:pt x="0" y="3337433"/>
                  </a:lnTo>
                  <a:lnTo>
                    <a:pt x="0" y="0"/>
                  </a:lnTo>
                  <a:close/>
                </a:path>
              </a:pathLst>
            </a:custGeom>
            <a:blipFill>
              <a:blip r:embed="rId7"/>
              <a:stretch>
                <a:fillRect r="-1" b="-1"/>
              </a:stretch>
            </a:blipFill>
          </p:spPr>
          <p:txBody>
            <a:bodyPr/>
            <a:lstStyle/>
            <a:p>
              <a:endParaRPr lang="en-US"/>
            </a:p>
          </p:txBody>
        </p:sp>
      </p:grpSp>
      <p:grpSp>
        <p:nvGrpSpPr>
          <p:cNvPr id="14" name="Group 14"/>
          <p:cNvGrpSpPr>
            <a:grpSpLocks noChangeAspect="1"/>
          </p:cNvGrpSpPr>
          <p:nvPr/>
        </p:nvGrpSpPr>
        <p:grpSpPr>
          <a:xfrm>
            <a:off x="-13638" y="7798700"/>
            <a:ext cx="2503100" cy="2503100"/>
            <a:chOff x="0" y="0"/>
            <a:chExt cx="3337467" cy="3337467"/>
          </a:xfrm>
        </p:grpSpPr>
        <p:sp>
          <p:nvSpPr>
            <p:cNvPr id="15" name="Freeform 15"/>
            <p:cNvSpPr/>
            <p:nvPr/>
          </p:nvSpPr>
          <p:spPr>
            <a:xfrm>
              <a:off x="0" y="0"/>
              <a:ext cx="3337433" cy="3337433"/>
            </a:xfrm>
            <a:custGeom>
              <a:avLst/>
              <a:gdLst/>
              <a:ahLst/>
              <a:cxnLst/>
              <a:rect l="l" t="t" r="r" b="b"/>
              <a:pathLst>
                <a:path w="3337433" h="3337433">
                  <a:moveTo>
                    <a:pt x="0" y="0"/>
                  </a:moveTo>
                  <a:lnTo>
                    <a:pt x="3337433" y="0"/>
                  </a:lnTo>
                  <a:lnTo>
                    <a:pt x="3337433" y="3337433"/>
                  </a:lnTo>
                  <a:lnTo>
                    <a:pt x="0" y="3337433"/>
                  </a:lnTo>
                  <a:lnTo>
                    <a:pt x="0" y="0"/>
                  </a:lnTo>
                  <a:close/>
                </a:path>
              </a:pathLst>
            </a:custGeom>
            <a:blipFill>
              <a:blip r:embed="rId8"/>
              <a:stretch>
                <a:fillRect r="-1" b="-1"/>
              </a:stretch>
            </a:blipFill>
          </p:spPr>
          <p:txBody>
            <a:bodyPr/>
            <a:lstStyle/>
            <a:p>
              <a:endParaRPr lang="en-US"/>
            </a:p>
          </p:txBody>
        </p:sp>
      </p:grpSp>
      <p:grpSp>
        <p:nvGrpSpPr>
          <p:cNvPr id="16" name="Group 16"/>
          <p:cNvGrpSpPr/>
          <p:nvPr/>
        </p:nvGrpSpPr>
        <p:grpSpPr>
          <a:xfrm>
            <a:off x="1944600" y="2965600"/>
            <a:ext cx="14398800" cy="2954400"/>
            <a:chOff x="0" y="0"/>
            <a:chExt cx="19198400" cy="3939200"/>
          </a:xfrm>
        </p:grpSpPr>
        <p:sp>
          <p:nvSpPr>
            <p:cNvPr id="17" name="Freeform 17"/>
            <p:cNvSpPr/>
            <p:nvPr/>
          </p:nvSpPr>
          <p:spPr>
            <a:xfrm>
              <a:off x="0" y="0"/>
              <a:ext cx="19198400" cy="3939200"/>
            </a:xfrm>
            <a:custGeom>
              <a:avLst/>
              <a:gdLst/>
              <a:ahLst/>
              <a:cxnLst/>
              <a:rect l="l" t="t" r="r" b="b"/>
              <a:pathLst>
                <a:path w="19198400" h="3939200">
                  <a:moveTo>
                    <a:pt x="0" y="0"/>
                  </a:moveTo>
                  <a:lnTo>
                    <a:pt x="19198400" y="0"/>
                  </a:lnTo>
                  <a:lnTo>
                    <a:pt x="19198400" y="3939200"/>
                  </a:lnTo>
                  <a:lnTo>
                    <a:pt x="0" y="3939200"/>
                  </a:lnTo>
                  <a:close/>
                </a:path>
              </a:pathLst>
            </a:custGeom>
            <a:solidFill>
              <a:srgbClr val="000000">
                <a:alpha val="0"/>
              </a:srgbClr>
            </a:solidFill>
          </p:spPr>
          <p:txBody>
            <a:bodyPr/>
            <a:lstStyle/>
            <a:p>
              <a:endParaRPr lang="en-US"/>
            </a:p>
          </p:txBody>
        </p:sp>
        <p:sp>
          <p:nvSpPr>
            <p:cNvPr id="18" name="TextBox 18"/>
            <p:cNvSpPr txBox="1"/>
            <p:nvPr/>
          </p:nvSpPr>
          <p:spPr>
            <a:xfrm>
              <a:off x="0" y="-85725"/>
              <a:ext cx="19198400" cy="4024925"/>
            </a:xfrm>
            <a:prstGeom prst="rect">
              <a:avLst/>
            </a:prstGeom>
          </p:spPr>
          <p:txBody>
            <a:bodyPr lIns="0" tIns="0" rIns="0" bIns="0" rtlCol="0" anchor="b"/>
            <a:lstStyle/>
            <a:p>
              <a:pPr algn="ctr">
                <a:lnSpc>
                  <a:spcPts val="10800"/>
                </a:lnSpc>
              </a:pPr>
              <a:r>
                <a:rPr lang="en-US" sz="9000" b="1">
                  <a:solidFill>
                    <a:srgbClr val="202A41"/>
                  </a:solidFill>
                  <a:latin typeface="Poppins Bold"/>
                  <a:ea typeface="Poppins Bold"/>
                  <a:cs typeface="Poppins Bold"/>
                  <a:sym typeface="Poppins Bold"/>
                </a:rPr>
                <a:t>UK Train Rides Dashboard</a:t>
              </a:r>
            </a:p>
          </p:txBody>
        </p:sp>
      </p:grpSp>
      <p:sp>
        <p:nvSpPr>
          <p:cNvPr id="19" name="TextBox 19"/>
          <p:cNvSpPr txBox="1"/>
          <p:nvPr/>
        </p:nvSpPr>
        <p:spPr>
          <a:xfrm>
            <a:off x="2036025" y="6541254"/>
            <a:ext cx="14215950" cy="688725"/>
          </a:xfrm>
          <a:prstGeom prst="rect">
            <a:avLst/>
          </a:prstGeom>
        </p:spPr>
        <p:txBody>
          <a:bodyPr lIns="0" tIns="0" rIns="0" bIns="0" rtlCol="0" anchor="t">
            <a:spAutoFit/>
          </a:bodyPr>
          <a:lstStyle/>
          <a:p>
            <a:pPr algn="ctr">
              <a:lnSpc>
                <a:spcPts val="3359"/>
              </a:lnSpc>
            </a:pPr>
            <a:r>
              <a:rPr lang="en-US" sz="2799">
                <a:solidFill>
                  <a:srgbClr val="202A41"/>
                </a:solidFill>
                <a:latin typeface="Poppins"/>
                <a:ea typeface="Poppins"/>
                <a:cs typeface="Poppins"/>
                <a:sym typeface="Poppins"/>
              </a:rPr>
              <a:t>DEPI3 - Data Analysis Power Bi</a:t>
            </a:r>
          </a:p>
          <a:p>
            <a:pPr algn="ctr">
              <a:lnSpc>
                <a:spcPts val="3359"/>
              </a:lnSpc>
            </a:pPr>
            <a:endParaRPr lang="en-US" sz="2799">
              <a:solidFill>
                <a:srgbClr val="202A41"/>
              </a:solidFill>
              <a:latin typeface="Poppins"/>
              <a:ea typeface="Poppins"/>
              <a:cs typeface="Poppins"/>
              <a:sym typeface="Poppins"/>
            </a:endParaRPr>
          </a:p>
        </p:txBody>
      </p:sp>
      <p:grpSp>
        <p:nvGrpSpPr>
          <p:cNvPr id="20" name="Group 20"/>
          <p:cNvGrpSpPr>
            <a:grpSpLocks noChangeAspect="1"/>
          </p:cNvGrpSpPr>
          <p:nvPr/>
        </p:nvGrpSpPr>
        <p:grpSpPr>
          <a:xfrm>
            <a:off x="134480" y="8915608"/>
            <a:ext cx="1345412" cy="1236912"/>
            <a:chOff x="0" y="0"/>
            <a:chExt cx="1793883" cy="1649216"/>
          </a:xfrm>
        </p:grpSpPr>
        <p:sp>
          <p:nvSpPr>
            <p:cNvPr id="21" name="Freeform 21"/>
            <p:cNvSpPr/>
            <p:nvPr/>
          </p:nvSpPr>
          <p:spPr>
            <a:xfrm>
              <a:off x="0" y="0"/>
              <a:ext cx="1793875" cy="1649222"/>
            </a:xfrm>
            <a:custGeom>
              <a:avLst/>
              <a:gdLst/>
              <a:ahLst/>
              <a:cxnLst/>
              <a:rect l="l" t="t" r="r" b="b"/>
              <a:pathLst>
                <a:path w="1793875" h="1649222">
                  <a:moveTo>
                    <a:pt x="0" y="0"/>
                  </a:moveTo>
                  <a:lnTo>
                    <a:pt x="1793875" y="0"/>
                  </a:lnTo>
                  <a:lnTo>
                    <a:pt x="1793875" y="1649222"/>
                  </a:lnTo>
                  <a:lnTo>
                    <a:pt x="0" y="1649222"/>
                  </a:lnTo>
                  <a:lnTo>
                    <a:pt x="0" y="0"/>
                  </a:lnTo>
                  <a:close/>
                </a:path>
              </a:pathLst>
            </a:custGeom>
            <a:blipFill>
              <a:blip r:embed="rId9"/>
              <a:stretch>
                <a:fillRect/>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a:off x="0" y="0"/>
            <a:ext cx="13047052" cy="739800"/>
            <a:chOff x="0" y="0"/>
            <a:chExt cx="17396069" cy="986400"/>
          </a:xfrm>
        </p:grpSpPr>
        <p:sp>
          <p:nvSpPr>
            <p:cNvPr id="5" name="Freeform 5"/>
            <p:cNvSpPr/>
            <p:nvPr/>
          </p:nvSpPr>
          <p:spPr>
            <a:xfrm>
              <a:off x="0" y="0"/>
              <a:ext cx="17396079" cy="986409"/>
            </a:xfrm>
            <a:custGeom>
              <a:avLst/>
              <a:gdLst/>
              <a:ahLst/>
              <a:cxnLst/>
              <a:rect l="l" t="t" r="r" b="b"/>
              <a:pathLst>
                <a:path w="17396079" h="986409">
                  <a:moveTo>
                    <a:pt x="0" y="0"/>
                  </a:moveTo>
                  <a:lnTo>
                    <a:pt x="17396079" y="0"/>
                  </a:lnTo>
                  <a:lnTo>
                    <a:pt x="17396079" y="986409"/>
                  </a:lnTo>
                  <a:lnTo>
                    <a:pt x="0" y="986409"/>
                  </a:lnTo>
                  <a:lnTo>
                    <a:pt x="0" y="0"/>
                  </a:lnTo>
                  <a:close/>
                </a:path>
              </a:pathLst>
            </a:custGeom>
            <a:blipFill>
              <a:blip r:embed="rId4"/>
              <a:stretch>
                <a:fillRect t="-54253" b="-54252"/>
              </a:stretch>
            </a:blipFill>
          </p:spPr>
          <p:txBody>
            <a:bodyPr/>
            <a:lstStyle/>
            <a:p>
              <a:endParaRPr lang="en-US"/>
            </a:p>
          </p:txBody>
        </p:sp>
      </p:grpSp>
      <p:grpSp>
        <p:nvGrpSpPr>
          <p:cNvPr id="6" name="Group 6"/>
          <p:cNvGrpSpPr>
            <a:grpSpLocks noChangeAspect="1"/>
          </p:cNvGrpSpPr>
          <p:nvPr/>
        </p:nvGrpSpPr>
        <p:grpSpPr>
          <a:xfrm>
            <a:off x="530250" y="300910"/>
            <a:ext cx="3170928" cy="138000"/>
            <a:chOff x="0" y="0"/>
            <a:chExt cx="4227904" cy="184000"/>
          </a:xfrm>
        </p:grpSpPr>
        <p:sp>
          <p:nvSpPr>
            <p:cNvPr id="7" name="Freeform 7"/>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8" name="Group 8"/>
          <p:cNvGrpSpPr>
            <a:grpSpLocks noChangeAspect="1"/>
          </p:cNvGrpSpPr>
          <p:nvPr/>
        </p:nvGrpSpPr>
        <p:grpSpPr>
          <a:xfrm>
            <a:off x="16342450" y="0"/>
            <a:ext cx="1945550" cy="1945550"/>
            <a:chOff x="0" y="0"/>
            <a:chExt cx="2594067" cy="2594067"/>
          </a:xfrm>
        </p:grpSpPr>
        <p:sp>
          <p:nvSpPr>
            <p:cNvPr id="9" name="Freeform 9"/>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6"/>
              <a:stretch>
                <a:fillRect r="1" b="1"/>
              </a:stretch>
            </a:blipFill>
          </p:spPr>
          <p:txBody>
            <a:bodyPr/>
            <a:lstStyle/>
            <a:p>
              <a:endParaRPr lang="en-US"/>
            </a:p>
          </p:txBody>
        </p:sp>
      </p:grpSp>
      <p:grpSp>
        <p:nvGrpSpPr>
          <p:cNvPr id="10" name="Group 10"/>
          <p:cNvGrpSpPr>
            <a:grpSpLocks noChangeAspect="1"/>
          </p:cNvGrpSpPr>
          <p:nvPr/>
        </p:nvGrpSpPr>
        <p:grpSpPr>
          <a:xfrm>
            <a:off x="0" y="8341474"/>
            <a:ext cx="1945550" cy="1945550"/>
            <a:chOff x="0" y="0"/>
            <a:chExt cx="2594067" cy="2594067"/>
          </a:xfrm>
        </p:grpSpPr>
        <p:sp>
          <p:nvSpPr>
            <p:cNvPr id="11" name="Freeform 11"/>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7"/>
              <a:stretch>
                <a:fillRect r="1" b="1"/>
              </a:stretch>
            </a:blipFill>
          </p:spPr>
          <p:txBody>
            <a:bodyPr/>
            <a:lstStyle/>
            <a:p>
              <a:endParaRPr lang="en-US"/>
            </a:p>
          </p:txBody>
        </p:sp>
      </p:grpSp>
      <p:sp>
        <p:nvSpPr>
          <p:cNvPr id="12" name="TextBox 12"/>
          <p:cNvSpPr txBox="1"/>
          <p:nvPr/>
        </p:nvSpPr>
        <p:spPr>
          <a:xfrm>
            <a:off x="1531425" y="1103750"/>
            <a:ext cx="15225150" cy="102922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Team Members</a:t>
            </a:r>
          </a:p>
        </p:txBody>
      </p:sp>
      <p:sp>
        <p:nvSpPr>
          <p:cNvPr id="13" name="TextBox 13"/>
          <p:cNvSpPr txBox="1"/>
          <p:nvPr/>
        </p:nvSpPr>
        <p:spPr>
          <a:xfrm>
            <a:off x="3749025" y="3404205"/>
            <a:ext cx="10789950" cy="6082695"/>
          </a:xfrm>
          <a:prstGeom prst="rect">
            <a:avLst/>
          </a:prstGeom>
        </p:spPr>
        <p:txBody>
          <a:bodyPr lIns="0" tIns="0" rIns="0" bIns="0" rtlCol="0" anchor="t">
            <a:spAutoFit/>
          </a:bodyPr>
          <a:lstStyle/>
          <a:p>
            <a:pPr algn="ctr">
              <a:lnSpc>
                <a:spcPts val="4800"/>
              </a:lnSpc>
            </a:pPr>
            <a:r>
              <a:rPr lang="en-US" sz="4000" b="1" u="sng">
                <a:solidFill>
                  <a:srgbClr val="202A41"/>
                </a:solidFill>
                <a:latin typeface="Poppins Bold"/>
                <a:ea typeface="Poppins Bold"/>
                <a:cs typeface="Poppins Bold"/>
                <a:sym typeface="Poppins Bold"/>
              </a:rPr>
              <a:t>Ahmed Essam Eldin Abd El Fattah</a:t>
            </a:r>
          </a:p>
          <a:p>
            <a:pPr algn="ctr">
              <a:lnSpc>
                <a:spcPts val="4800"/>
              </a:lnSpc>
            </a:pPr>
            <a:endParaRPr lang="en-US" sz="4000" b="1" u="sng">
              <a:solidFill>
                <a:srgbClr val="202A41"/>
              </a:solidFill>
              <a:latin typeface="Poppins Bold"/>
              <a:ea typeface="Poppins Bold"/>
              <a:cs typeface="Poppins Bold"/>
              <a:sym typeface="Poppins Bold"/>
            </a:endParaRPr>
          </a:p>
          <a:p>
            <a:pPr algn="ctr">
              <a:lnSpc>
                <a:spcPts val="4800"/>
              </a:lnSpc>
            </a:pPr>
            <a:endParaRPr lang="en-US" sz="4000" b="1" u="sng">
              <a:solidFill>
                <a:srgbClr val="202A41"/>
              </a:solidFill>
              <a:latin typeface="Poppins Bold"/>
              <a:ea typeface="Poppins Bold"/>
              <a:cs typeface="Poppins Bold"/>
              <a:sym typeface="Poppins Bold"/>
            </a:endParaRPr>
          </a:p>
          <a:p>
            <a:pPr algn="ctr">
              <a:lnSpc>
                <a:spcPts val="4800"/>
              </a:lnSpc>
            </a:pPr>
            <a:endParaRPr lang="en-US" sz="4000" b="1" u="sng">
              <a:solidFill>
                <a:srgbClr val="202A41"/>
              </a:solidFill>
              <a:latin typeface="Poppins Bold"/>
              <a:ea typeface="Poppins Bold"/>
              <a:cs typeface="Poppins Bold"/>
              <a:sym typeface="Poppins Bold"/>
            </a:endParaRPr>
          </a:p>
        </p:txBody>
      </p:sp>
      <p:sp>
        <p:nvSpPr>
          <p:cNvPr id="14" name="TextBox 14"/>
          <p:cNvSpPr txBox="1"/>
          <p:nvPr/>
        </p:nvSpPr>
        <p:spPr>
          <a:xfrm>
            <a:off x="3749025" y="3404205"/>
            <a:ext cx="10789950" cy="6082695"/>
          </a:xfrm>
          <a:prstGeom prst="rect">
            <a:avLst/>
          </a:prstGeom>
        </p:spPr>
        <p:txBody>
          <a:bodyPr lIns="0" tIns="0" rIns="0" bIns="0" rtlCol="0" anchor="t">
            <a:spAutoFit/>
          </a:bodyPr>
          <a:lstStyle/>
          <a:p>
            <a:pPr algn="ctr">
              <a:lnSpc>
                <a:spcPts val="4800"/>
              </a:lnSpc>
            </a:pPr>
            <a:endParaRPr/>
          </a:p>
          <a:p>
            <a:pPr algn="ctr">
              <a:lnSpc>
                <a:spcPts val="4800"/>
              </a:lnSpc>
            </a:pPr>
            <a:endParaRPr/>
          </a:p>
          <a:p>
            <a:pPr algn="ctr">
              <a:lnSpc>
                <a:spcPts val="4800"/>
              </a:lnSpc>
            </a:pPr>
            <a:r>
              <a:rPr lang="en-US" sz="4000" b="1" u="sng">
                <a:solidFill>
                  <a:srgbClr val="202A41"/>
                </a:solidFill>
                <a:latin typeface="Poppins Bold"/>
                <a:ea typeface="Poppins Bold"/>
                <a:cs typeface="Poppins Bold"/>
                <a:sym typeface="Poppins Bold"/>
              </a:rPr>
              <a:t>Ahmed Ibrahim Abdelhamid</a:t>
            </a:r>
          </a:p>
          <a:p>
            <a:pPr algn="ctr">
              <a:lnSpc>
                <a:spcPts val="4800"/>
              </a:lnSpc>
            </a:pPr>
            <a:endParaRPr lang="en-US" sz="4000" b="1" u="sng">
              <a:solidFill>
                <a:srgbClr val="202A41"/>
              </a:solidFill>
              <a:latin typeface="Poppins Bold"/>
              <a:ea typeface="Poppins Bold"/>
              <a:cs typeface="Poppins Bold"/>
              <a:sym typeface="Poppins Bold"/>
            </a:endParaRPr>
          </a:p>
          <a:p>
            <a:pPr algn="ctr">
              <a:lnSpc>
                <a:spcPts val="4800"/>
              </a:lnSpc>
            </a:pPr>
            <a:endParaRPr lang="en-US" sz="4000" b="1" u="sng">
              <a:solidFill>
                <a:srgbClr val="202A41"/>
              </a:solidFill>
              <a:latin typeface="Poppins Bold"/>
              <a:ea typeface="Poppins Bold"/>
              <a:cs typeface="Poppins Bold"/>
              <a:sym typeface="Poppins Bold"/>
            </a:endParaRPr>
          </a:p>
          <a:p>
            <a:pPr algn="ctr">
              <a:lnSpc>
                <a:spcPts val="4800"/>
              </a:lnSpc>
            </a:pPr>
            <a:endParaRPr lang="en-US" sz="4000" b="1" u="sng">
              <a:solidFill>
                <a:srgbClr val="202A41"/>
              </a:solidFill>
              <a:latin typeface="Poppins Bold"/>
              <a:ea typeface="Poppins Bold"/>
              <a:cs typeface="Poppins Bold"/>
              <a:sym typeface="Poppins Bold"/>
            </a:endParaRPr>
          </a:p>
        </p:txBody>
      </p:sp>
      <p:sp>
        <p:nvSpPr>
          <p:cNvPr id="15" name="TextBox 15" hidden="1"/>
          <p:cNvSpPr txBox="1"/>
          <p:nvPr/>
        </p:nvSpPr>
        <p:spPr>
          <a:xfrm>
            <a:off x="3749025" y="2838196"/>
            <a:ext cx="10789950" cy="6082695"/>
          </a:xfrm>
          <a:prstGeom prst="rect">
            <a:avLst/>
          </a:prstGeom>
        </p:spPr>
        <p:txBody>
          <a:bodyPr lIns="0" tIns="0" rIns="0" bIns="0" rtlCol="0" anchor="t">
            <a:spAutoFit/>
          </a:bodyPr>
          <a:lstStyle/>
          <a:p>
            <a:pPr algn="ctr">
              <a:lnSpc>
                <a:spcPts val="4800"/>
              </a:lnSpc>
            </a:pPr>
            <a:endParaRPr/>
          </a:p>
          <a:p>
            <a:pPr algn="ctr">
              <a:lnSpc>
                <a:spcPts val="4800"/>
              </a:lnSpc>
            </a:pPr>
            <a:endParaRPr/>
          </a:p>
          <a:p>
            <a:pPr algn="ctr">
              <a:lnSpc>
                <a:spcPts val="4800"/>
              </a:lnSpc>
            </a:pPr>
            <a:endParaRPr/>
          </a:p>
          <a:p>
            <a:pPr algn="ctr">
              <a:lnSpc>
                <a:spcPts val="4800"/>
              </a:lnSpc>
            </a:pPr>
            <a:endParaRPr/>
          </a:p>
          <a:p>
            <a:pPr algn="ctr">
              <a:lnSpc>
                <a:spcPts val="4800"/>
              </a:lnSpc>
            </a:pPr>
            <a:r>
              <a:rPr lang="en-US" sz="4000" b="1" u="sng">
                <a:solidFill>
                  <a:srgbClr val="202A41"/>
                </a:solidFill>
                <a:latin typeface="Poppins Bold"/>
                <a:ea typeface="Poppins Bold"/>
                <a:cs typeface="Poppins Bold"/>
                <a:sym typeface="Poppins Bold"/>
              </a:rPr>
              <a:t>Amr Essam Fathy</a:t>
            </a:r>
          </a:p>
          <a:p>
            <a:pPr algn="ctr">
              <a:lnSpc>
                <a:spcPts val="4800"/>
              </a:lnSpc>
            </a:pPr>
            <a:endParaRPr lang="en-US" sz="4000" b="1" u="sng">
              <a:solidFill>
                <a:srgbClr val="202A41"/>
              </a:solidFill>
              <a:latin typeface="Poppins Bold"/>
              <a:ea typeface="Poppins Bold"/>
              <a:cs typeface="Poppins Bold"/>
              <a:sym typeface="Poppins Bold"/>
            </a:endParaRPr>
          </a:p>
        </p:txBody>
      </p:sp>
      <p:sp>
        <p:nvSpPr>
          <p:cNvPr id="16" name="TextBox 16"/>
          <p:cNvSpPr txBox="1"/>
          <p:nvPr/>
        </p:nvSpPr>
        <p:spPr>
          <a:xfrm>
            <a:off x="3749025" y="5842605"/>
            <a:ext cx="10789950" cy="6082695"/>
          </a:xfrm>
          <a:prstGeom prst="rect">
            <a:avLst/>
          </a:prstGeom>
        </p:spPr>
        <p:txBody>
          <a:bodyPr lIns="0" tIns="0" rIns="0" bIns="0" rtlCol="0" anchor="t">
            <a:spAutoFit/>
          </a:bodyPr>
          <a:lstStyle/>
          <a:p>
            <a:pPr algn="ctr">
              <a:lnSpc>
                <a:spcPts val="4800"/>
              </a:lnSpc>
            </a:pPr>
            <a:endParaRPr dirty="0"/>
          </a:p>
          <a:p>
            <a:pPr algn="ctr">
              <a:lnSpc>
                <a:spcPts val="4800"/>
              </a:lnSpc>
            </a:pPr>
            <a:endParaRPr dirty="0"/>
          </a:p>
          <a:p>
            <a:pPr algn="ctr">
              <a:lnSpc>
                <a:spcPts val="4800"/>
              </a:lnSpc>
            </a:pPr>
            <a:r>
              <a:rPr lang="en-US" sz="4000" b="1" u="sng" dirty="0" err="1">
                <a:solidFill>
                  <a:srgbClr val="202A41"/>
                </a:solidFill>
                <a:latin typeface="Poppins Bold"/>
                <a:ea typeface="Poppins Bold"/>
                <a:cs typeface="Poppins Bold"/>
                <a:sym typeface="Poppins Bold"/>
              </a:rPr>
              <a:t>Eslam</a:t>
            </a:r>
            <a:r>
              <a:rPr lang="en-US" sz="4000" b="1" u="sng" dirty="0">
                <a:solidFill>
                  <a:srgbClr val="202A41"/>
                </a:solidFill>
                <a:latin typeface="Poppins Bold"/>
                <a:ea typeface="Poppins Bold"/>
                <a:cs typeface="Poppins Bold"/>
                <a:sym typeface="Poppins Bold"/>
              </a:rPr>
              <a:t> Mohamed Abd El Fattah</a:t>
            </a:r>
          </a:p>
          <a:p>
            <a:pPr algn="ctr">
              <a:lnSpc>
                <a:spcPts val="4800"/>
              </a:lnSpc>
            </a:pPr>
            <a:endParaRPr lang="en-US" sz="4000" b="1" u="sng" dirty="0">
              <a:solidFill>
                <a:srgbClr val="202A41"/>
              </a:solidFill>
              <a:latin typeface="Poppins Bold"/>
              <a:ea typeface="Poppins Bold"/>
              <a:cs typeface="Poppins Bold"/>
              <a:sym typeface="Poppins Bold"/>
            </a:endParaRPr>
          </a:p>
          <a:p>
            <a:pPr algn="ctr">
              <a:lnSpc>
                <a:spcPts val="4800"/>
              </a:lnSpc>
            </a:pPr>
            <a:endParaRPr lang="en-US" sz="4000" b="1" u="sng" dirty="0">
              <a:solidFill>
                <a:srgbClr val="202A41"/>
              </a:solidFill>
              <a:latin typeface="Poppins Bold"/>
              <a:ea typeface="Poppins Bold"/>
              <a:cs typeface="Poppins Bold"/>
              <a:sym typeface="Poppins Bold"/>
            </a:endParaRPr>
          </a:p>
        </p:txBody>
      </p:sp>
      <p:sp>
        <p:nvSpPr>
          <p:cNvPr id="17" name="TextBox 17"/>
          <p:cNvSpPr txBox="1"/>
          <p:nvPr/>
        </p:nvSpPr>
        <p:spPr>
          <a:xfrm>
            <a:off x="3749025" y="4642709"/>
            <a:ext cx="10789950" cy="6082695"/>
          </a:xfrm>
          <a:prstGeom prst="rect">
            <a:avLst/>
          </a:prstGeom>
        </p:spPr>
        <p:txBody>
          <a:bodyPr lIns="0" tIns="0" rIns="0" bIns="0" rtlCol="0" anchor="t">
            <a:spAutoFit/>
          </a:bodyPr>
          <a:lstStyle/>
          <a:p>
            <a:pPr algn="ctr">
              <a:lnSpc>
                <a:spcPts val="4800"/>
              </a:lnSpc>
            </a:pPr>
            <a:endParaRPr dirty="0"/>
          </a:p>
          <a:p>
            <a:pPr algn="ctr">
              <a:lnSpc>
                <a:spcPts val="4800"/>
              </a:lnSpc>
            </a:pPr>
            <a:endParaRPr dirty="0"/>
          </a:p>
          <a:p>
            <a:pPr algn="ctr">
              <a:lnSpc>
                <a:spcPts val="4800"/>
              </a:lnSpc>
            </a:pPr>
            <a:r>
              <a:rPr lang="en-US" sz="4000" b="1" u="sng" dirty="0" err="1">
                <a:solidFill>
                  <a:srgbClr val="202A41"/>
                </a:solidFill>
                <a:latin typeface="Poppins Bold"/>
                <a:ea typeface="Poppins Bold"/>
                <a:cs typeface="Poppins Bold"/>
                <a:sym typeface="Poppins Bold"/>
              </a:rPr>
              <a:t>Reham</a:t>
            </a:r>
            <a:r>
              <a:rPr lang="en-US" sz="4000" b="1" u="sng" dirty="0">
                <a:solidFill>
                  <a:srgbClr val="202A41"/>
                </a:solidFill>
                <a:latin typeface="Poppins Bold"/>
                <a:ea typeface="Poppins Bold"/>
                <a:cs typeface="Poppins Bold"/>
                <a:sym typeface="Poppins Bold"/>
              </a:rPr>
              <a:t> Mahmoud </a:t>
            </a:r>
            <a:r>
              <a:rPr lang="en-US" sz="4000" b="1" u="sng" dirty="0" err="1">
                <a:solidFill>
                  <a:srgbClr val="202A41"/>
                </a:solidFill>
                <a:latin typeface="Poppins Bold"/>
                <a:ea typeface="Poppins Bold"/>
                <a:cs typeface="Poppins Bold"/>
                <a:sym typeface="Poppins Bold"/>
              </a:rPr>
              <a:t>Moustafa</a:t>
            </a:r>
            <a:r>
              <a:rPr lang="en-US" sz="4000" b="1" u="sng" dirty="0">
                <a:solidFill>
                  <a:srgbClr val="202A41"/>
                </a:solidFill>
                <a:latin typeface="Poppins Bold"/>
                <a:ea typeface="Poppins Bold"/>
                <a:cs typeface="Poppins Bold"/>
                <a:sym typeface="Poppins Bold"/>
              </a:rPr>
              <a:t> </a:t>
            </a:r>
            <a:r>
              <a:rPr lang="en-US" sz="4000" b="1" u="sng" dirty="0" err="1">
                <a:solidFill>
                  <a:srgbClr val="202A41"/>
                </a:solidFill>
                <a:latin typeface="Poppins Bold"/>
                <a:ea typeface="Poppins Bold"/>
                <a:cs typeface="Poppins Bold"/>
                <a:sym typeface="Poppins Bold"/>
              </a:rPr>
              <a:t>Shaarawy</a:t>
            </a:r>
            <a:endParaRPr lang="en-US" sz="4000" b="1" u="sng" dirty="0">
              <a:solidFill>
                <a:srgbClr val="202A41"/>
              </a:solidFill>
              <a:latin typeface="Poppins Bold"/>
              <a:ea typeface="Poppins Bold"/>
              <a:cs typeface="Poppins Bold"/>
              <a:sym typeface="Poppins Bold"/>
            </a:endParaRPr>
          </a:p>
          <a:p>
            <a:pPr algn="ctr">
              <a:lnSpc>
                <a:spcPts val="4800"/>
              </a:lnSpc>
            </a:pPr>
            <a:endParaRPr lang="en-US" sz="4000" b="1" u="sng" dirty="0">
              <a:solidFill>
                <a:srgbClr val="202A41"/>
              </a:solidFill>
              <a:latin typeface="Poppins Bold"/>
              <a:ea typeface="Poppins Bold"/>
              <a:cs typeface="Poppins Bold"/>
              <a:sym typeface="Poppins Bold"/>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a:off x="5240950" y="0"/>
            <a:ext cx="13047052" cy="739800"/>
            <a:chOff x="0" y="0"/>
            <a:chExt cx="17396069" cy="986400"/>
          </a:xfrm>
        </p:grpSpPr>
        <p:sp>
          <p:nvSpPr>
            <p:cNvPr id="5" name="Freeform 5"/>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4"/>
              <a:stretch>
                <a:fillRect t="-54253" b="-54252"/>
              </a:stretch>
            </a:blipFill>
          </p:spPr>
          <p:txBody>
            <a:bodyPr/>
            <a:lstStyle/>
            <a:p>
              <a:endParaRPr lang="en-US"/>
            </a:p>
          </p:txBody>
        </p:sp>
      </p:grpSp>
      <p:grpSp>
        <p:nvGrpSpPr>
          <p:cNvPr id="6" name="Group 6"/>
          <p:cNvGrpSpPr>
            <a:grpSpLocks noChangeAspect="1"/>
          </p:cNvGrpSpPr>
          <p:nvPr/>
        </p:nvGrpSpPr>
        <p:grpSpPr>
          <a:xfrm>
            <a:off x="14586824" y="300910"/>
            <a:ext cx="3170928" cy="138000"/>
            <a:chOff x="0" y="0"/>
            <a:chExt cx="4227904" cy="184000"/>
          </a:xfrm>
        </p:grpSpPr>
        <p:sp>
          <p:nvSpPr>
            <p:cNvPr id="7" name="Freeform 7"/>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5"/>
              <a:stretch>
                <a:fillRect l="-2" b="12"/>
              </a:stretch>
            </a:blipFill>
          </p:spPr>
          <p:txBody>
            <a:bodyPr/>
            <a:lstStyle/>
            <a:p>
              <a:endParaRPr lang="en-US"/>
            </a:p>
          </p:txBody>
        </p:sp>
      </p:grpSp>
      <p:grpSp>
        <p:nvGrpSpPr>
          <p:cNvPr id="8" name="Group 8"/>
          <p:cNvGrpSpPr>
            <a:grpSpLocks noChangeAspect="1"/>
          </p:cNvGrpSpPr>
          <p:nvPr/>
        </p:nvGrpSpPr>
        <p:grpSpPr>
          <a:xfrm>
            <a:off x="0" y="0"/>
            <a:ext cx="1945550" cy="1945550"/>
            <a:chOff x="0" y="0"/>
            <a:chExt cx="2594067" cy="2594067"/>
          </a:xfrm>
        </p:grpSpPr>
        <p:sp>
          <p:nvSpPr>
            <p:cNvPr id="9" name="Freeform 9"/>
            <p:cNvSpPr/>
            <p:nvPr/>
          </p:nvSpPr>
          <p:spPr>
            <a:xfrm flipH="1">
              <a:off x="0" y="0"/>
              <a:ext cx="2594102" cy="2594102"/>
            </a:xfrm>
            <a:custGeom>
              <a:avLst/>
              <a:gdLst/>
              <a:ahLst/>
              <a:cxnLst/>
              <a:rect l="l" t="t" r="r" b="b"/>
              <a:pathLst>
                <a:path w="2594102" h="2594102">
                  <a:moveTo>
                    <a:pt x="2594102" y="0"/>
                  </a:moveTo>
                  <a:lnTo>
                    <a:pt x="0" y="0"/>
                  </a:lnTo>
                  <a:lnTo>
                    <a:pt x="0" y="2594102"/>
                  </a:lnTo>
                  <a:lnTo>
                    <a:pt x="2594102" y="2594102"/>
                  </a:lnTo>
                  <a:lnTo>
                    <a:pt x="2594102" y="0"/>
                  </a:lnTo>
                  <a:close/>
                </a:path>
              </a:pathLst>
            </a:custGeom>
            <a:blipFill>
              <a:blip r:embed="rId6"/>
              <a:stretch>
                <a:fillRect r="1" b="1"/>
              </a:stretch>
            </a:blipFill>
          </p:spPr>
          <p:txBody>
            <a:bodyPr/>
            <a:lstStyle/>
            <a:p>
              <a:endParaRPr lang="en-US"/>
            </a:p>
          </p:txBody>
        </p:sp>
      </p:grpSp>
      <p:grpSp>
        <p:nvGrpSpPr>
          <p:cNvPr id="10" name="Group 10"/>
          <p:cNvGrpSpPr>
            <a:grpSpLocks noChangeAspect="1"/>
          </p:cNvGrpSpPr>
          <p:nvPr/>
        </p:nvGrpSpPr>
        <p:grpSpPr>
          <a:xfrm>
            <a:off x="16342450" y="8341474"/>
            <a:ext cx="1945550" cy="1945550"/>
            <a:chOff x="0" y="0"/>
            <a:chExt cx="2594067" cy="2594067"/>
          </a:xfrm>
        </p:grpSpPr>
        <p:sp>
          <p:nvSpPr>
            <p:cNvPr id="11" name="Freeform 11"/>
            <p:cNvSpPr/>
            <p:nvPr/>
          </p:nvSpPr>
          <p:spPr>
            <a:xfrm flipH="1">
              <a:off x="0" y="0"/>
              <a:ext cx="2594102" cy="2594102"/>
            </a:xfrm>
            <a:custGeom>
              <a:avLst/>
              <a:gdLst/>
              <a:ahLst/>
              <a:cxnLst/>
              <a:rect l="l" t="t" r="r" b="b"/>
              <a:pathLst>
                <a:path w="2594102" h="2594102">
                  <a:moveTo>
                    <a:pt x="2594102" y="0"/>
                  </a:moveTo>
                  <a:lnTo>
                    <a:pt x="0" y="0"/>
                  </a:lnTo>
                  <a:lnTo>
                    <a:pt x="0" y="2594102"/>
                  </a:lnTo>
                  <a:lnTo>
                    <a:pt x="2594102" y="2594102"/>
                  </a:lnTo>
                  <a:lnTo>
                    <a:pt x="2594102" y="0"/>
                  </a:lnTo>
                  <a:close/>
                </a:path>
              </a:pathLst>
            </a:custGeom>
            <a:blipFill>
              <a:blip r:embed="rId7"/>
              <a:stretch>
                <a:fillRect r="1" b="1"/>
              </a:stretch>
            </a:blipFill>
          </p:spPr>
          <p:txBody>
            <a:bodyPr/>
            <a:lstStyle/>
            <a:p>
              <a:endParaRPr lang="en-US"/>
            </a:p>
          </p:txBody>
        </p:sp>
      </p:grpSp>
      <p:sp>
        <p:nvSpPr>
          <p:cNvPr id="12" name="TextBox 12"/>
          <p:cNvSpPr txBox="1"/>
          <p:nvPr/>
        </p:nvSpPr>
        <p:spPr>
          <a:xfrm>
            <a:off x="1531425" y="1103750"/>
            <a:ext cx="15225150" cy="102922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TABLE OF CONTENTS</a:t>
            </a:r>
          </a:p>
        </p:txBody>
      </p:sp>
      <p:grpSp>
        <p:nvGrpSpPr>
          <p:cNvPr id="13" name="Group 13"/>
          <p:cNvGrpSpPr/>
          <p:nvPr/>
        </p:nvGrpSpPr>
        <p:grpSpPr>
          <a:xfrm>
            <a:off x="7518410" y="3398192"/>
            <a:ext cx="1389600" cy="1389600"/>
            <a:chOff x="0" y="0"/>
            <a:chExt cx="1852800" cy="1852800"/>
          </a:xfrm>
        </p:grpSpPr>
        <p:sp>
          <p:nvSpPr>
            <p:cNvPr id="14" name="Freeform 14"/>
            <p:cNvSpPr/>
            <p:nvPr/>
          </p:nvSpPr>
          <p:spPr>
            <a:xfrm>
              <a:off x="0" y="0"/>
              <a:ext cx="1852800" cy="1852800"/>
            </a:xfrm>
            <a:custGeom>
              <a:avLst/>
              <a:gdLst/>
              <a:ahLst/>
              <a:cxnLst/>
              <a:rect l="l" t="t" r="r" b="b"/>
              <a:pathLst>
                <a:path w="1852800" h="1852800">
                  <a:moveTo>
                    <a:pt x="0" y="0"/>
                  </a:moveTo>
                  <a:lnTo>
                    <a:pt x="1852800" y="0"/>
                  </a:lnTo>
                  <a:lnTo>
                    <a:pt x="1852800" y="1852800"/>
                  </a:lnTo>
                  <a:lnTo>
                    <a:pt x="0" y="1852800"/>
                  </a:lnTo>
                  <a:close/>
                </a:path>
              </a:pathLst>
            </a:custGeom>
            <a:solidFill>
              <a:srgbClr val="000000">
                <a:alpha val="0"/>
              </a:srgbClr>
            </a:solidFill>
          </p:spPr>
          <p:txBody>
            <a:bodyPr/>
            <a:lstStyle/>
            <a:p>
              <a:endParaRPr lang="en-US"/>
            </a:p>
          </p:txBody>
        </p:sp>
        <p:sp>
          <p:nvSpPr>
            <p:cNvPr id="15" name="TextBox 15"/>
            <p:cNvSpPr txBox="1"/>
            <p:nvPr/>
          </p:nvSpPr>
          <p:spPr>
            <a:xfrm>
              <a:off x="0" y="-66675"/>
              <a:ext cx="1852800" cy="1919475"/>
            </a:xfrm>
            <a:prstGeom prst="rect">
              <a:avLst/>
            </a:prstGeom>
          </p:spPr>
          <p:txBody>
            <a:bodyPr lIns="0" tIns="0" rIns="0" bIns="0" rtlCol="0" anchor="ctr"/>
            <a:lstStyle/>
            <a:p>
              <a:pPr algn="ctr">
                <a:lnSpc>
                  <a:spcPts val="7200"/>
                </a:lnSpc>
              </a:pPr>
              <a:r>
                <a:rPr lang="en-US" sz="6000" b="1">
                  <a:solidFill>
                    <a:srgbClr val="202A41"/>
                  </a:solidFill>
                  <a:latin typeface="Poppins Bold"/>
                  <a:ea typeface="Poppins Bold"/>
                  <a:cs typeface="Poppins Bold"/>
                  <a:sym typeface="Poppins Bold"/>
                </a:rPr>
                <a:t>01</a:t>
              </a:r>
            </a:p>
          </p:txBody>
        </p:sp>
      </p:grpSp>
      <p:grpSp>
        <p:nvGrpSpPr>
          <p:cNvPr id="16" name="Group 16"/>
          <p:cNvGrpSpPr/>
          <p:nvPr/>
        </p:nvGrpSpPr>
        <p:grpSpPr>
          <a:xfrm>
            <a:off x="9380010" y="3398192"/>
            <a:ext cx="1389600" cy="1389600"/>
            <a:chOff x="0" y="0"/>
            <a:chExt cx="1852800" cy="1852800"/>
          </a:xfrm>
        </p:grpSpPr>
        <p:sp>
          <p:nvSpPr>
            <p:cNvPr id="17" name="Freeform 17"/>
            <p:cNvSpPr/>
            <p:nvPr/>
          </p:nvSpPr>
          <p:spPr>
            <a:xfrm>
              <a:off x="0" y="0"/>
              <a:ext cx="1852800" cy="1852800"/>
            </a:xfrm>
            <a:custGeom>
              <a:avLst/>
              <a:gdLst/>
              <a:ahLst/>
              <a:cxnLst/>
              <a:rect l="l" t="t" r="r" b="b"/>
              <a:pathLst>
                <a:path w="1852800" h="1852800">
                  <a:moveTo>
                    <a:pt x="0" y="0"/>
                  </a:moveTo>
                  <a:lnTo>
                    <a:pt x="1852800" y="0"/>
                  </a:lnTo>
                  <a:lnTo>
                    <a:pt x="1852800" y="1852800"/>
                  </a:lnTo>
                  <a:lnTo>
                    <a:pt x="0" y="1852800"/>
                  </a:lnTo>
                  <a:close/>
                </a:path>
              </a:pathLst>
            </a:custGeom>
            <a:solidFill>
              <a:srgbClr val="000000">
                <a:alpha val="0"/>
              </a:srgbClr>
            </a:solidFill>
          </p:spPr>
          <p:txBody>
            <a:bodyPr/>
            <a:lstStyle/>
            <a:p>
              <a:endParaRPr lang="en-US"/>
            </a:p>
          </p:txBody>
        </p:sp>
        <p:sp>
          <p:nvSpPr>
            <p:cNvPr id="18" name="TextBox 18"/>
            <p:cNvSpPr txBox="1"/>
            <p:nvPr/>
          </p:nvSpPr>
          <p:spPr>
            <a:xfrm>
              <a:off x="0" y="-66675"/>
              <a:ext cx="1852800" cy="1919475"/>
            </a:xfrm>
            <a:prstGeom prst="rect">
              <a:avLst/>
            </a:prstGeom>
          </p:spPr>
          <p:txBody>
            <a:bodyPr lIns="0" tIns="0" rIns="0" bIns="0" rtlCol="0" anchor="ctr"/>
            <a:lstStyle/>
            <a:p>
              <a:pPr algn="ctr">
                <a:lnSpc>
                  <a:spcPts val="7200"/>
                </a:lnSpc>
              </a:pPr>
              <a:r>
                <a:rPr lang="en-US" sz="6000" b="1">
                  <a:solidFill>
                    <a:srgbClr val="202A41"/>
                  </a:solidFill>
                  <a:latin typeface="Poppins Bold"/>
                  <a:ea typeface="Poppins Bold"/>
                  <a:cs typeface="Poppins Bold"/>
                  <a:sym typeface="Poppins Bold"/>
                </a:rPr>
                <a:t>04</a:t>
              </a:r>
            </a:p>
          </p:txBody>
        </p:sp>
      </p:grpSp>
      <p:grpSp>
        <p:nvGrpSpPr>
          <p:cNvPr id="19" name="Group 19"/>
          <p:cNvGrpSpPr/>
          <p:nvPr/>
        </p:nvGrpSpPr>
        <p:grpSpPr>
          <a:xfrm>
            <a:off x="7518386" y="5563508"/>
            <a:ext cx="1389600" cy="1389600"/>
            <a:chOff x="0" y="0"/>
            <a:chExt cx="1852800" cy="1852800"/>
          </a:xfrm>
        </p:grpSpPr>
        <p:sp>
          <p:nvSpPr>
            <p:cNvPr id="20" name="Freeform 20"/>
            <p:cNvSpPr/>
            <p:nvPr/>
          </p:nvSpPr>
          <p:spPr>
            <a:xfrm>
              <a:off x="0" y="0"/>
              <a:ext cx="1852800" cy="1852800"/>
            </a:xfrm>
            <a:custGeom>
              <a:avLst/>
              <a:gdLst/>
              <a:ahLst/>
              <a:cxnLst/>
              <a:rect l="l" t="t" r="r" b="b"/>
              <a:pathLst>
                <a:path w="1852800" h="1852800">
                  <a:moveTo>
                    <a:pt x="0" y="0"/>
                  </a:moveTo>
                  <a:lnTo>
                    <a:pt x="1852800" y="0"/>
                  </a:lnTo>
                  <a:lnTo>
                    <a:pt x="1852800" y="1852800"/>
                  </a:lnTo>
                  <a:lnTo>
                    <a:pt x="0" y="1852800"/>
                  </a:lnTo>
                  <a:close/>
                </a:path>
              </a:pathLst>
            </a:custGeom>
            <a:solidFill>
              <a:srgbClr val="000000">
                <a:alpha val="0"/>
              </a:srgbClr>
            </a:solidFill>
          </p:spPr>
          <p:txBody>
            <a:bodyPr/>
            <a:lstStyle/>
            <a:p>
              <a:endParaRPr lang="en-US"/>
            </a:p>
          </p:txBody>
        </p:sp>
        <p:sp>
          <p:nvSpPr>
            <p:cNvPr id="21" name="TextBox 21"/>
            <p:cNvSpPr txBox="1"/>
            <p:nvPr/>
          </p:nvSpPr>
          <p:spPr>
            <a:xfrm>
              <a:off x="0" y="-66675"/>
              <a:ext cx="1852800" cy="1919475"/>
            </a:xfrm>
            <a:prstGeom prst="rect">
              <a:avLst/>
            </a:prstGeom>
          </p:spPr>
          <p:txBody>
            <a:bodyPr lIns="0" tIns="0" rIns="0" bIns="0" rtlCol="0" anchor="ctr"/>
            <a:lstStyle/>
            <a:p>
              <a:pPr algn="ctr">
                <a:lnSpc>
                  <a:spcPts val="7200"/>
                </a:lnSpc>
              </a:pPr>
              <a:r>
                <a:rPr lang="en-US" sz="6000" b="1">
                  <a:solidFill>
                    <a:srgbClr val="202A41"/>
                  </a:solidFill>
                  <a:latin typeface="Poppins Bold"/>
                  <a:ea typeface="Poppins Bold"/>
                  <a:cs typeface="Poppins Bold"/>
                  <a:sym typeface="Poppins Bold"/>
                </a:rPr>
                <a:t>02</a:t>
              </a:r>
            </a:p>
          </p:txBody>
        </p:sp>
      </p:grpSp>
      <p:grpSp>
        <p:nvGrpSpPr>
          <p:cNvPr id="22" name="Group 22"/>
          <p:cNvGrpSpPr/>
          <p:nvPr/>
        </p:nvGrpSpPr>
        <p:grpSpPr>
          <a:xfrm>
            <a:off x="9379986" y="5563508"/>
            <a:ext cx="1389600" cy="1389600"/>
            <a:chOff x="0" y="0"/>
            <a:chExt cx="1852800" cy="1852800"/>
          </a:xfrm>
        </p:grpSpPr>
        <p:sp>
          <p:nvSpPr>
            <p:cNvPr id="23" name="Freeform 23"/>
            <p:cNvSpPr/>
            <p:nvPr/>
          </p:nvSpPr>
          <p:spPr>
            <a:xfrm>
              <a:off x="0" y="0"/>
              <a:ext cx="1852800" cy="1852800"/>
            </a:xfrm>
            <a:custGeom>
              <a:avLst/>
              <a:gdLst/>
              <a:ahLst/>
              <a:cxnLst/>
              <a:rect l="l" t="t" r="r" b="b"/>
              <a:pathLst>
                <a:path w="1852800" h="1852800">
                  <a:moveTo>
                    <a:pt x="0" y="0"/>
                  </a:moveTo>
                  <a:lnTo>
                    <a:pt x="1852800" y="0"/>
                  </a:lnTo>
                  <a:lnTo>
                    <a:pt x="1852800" y="1852800"/>
                  </a:lnTo>
                  <a:lnTo>
                    <a:pt x="0" y="1852800"/>
                  </a:lnTo>
                  <a:close/>
                </a:path>
              </a:pathLst>
            </a:custGeom>
            <a:solidFill>
              <a:srgbClr val="000000">
                <a:alpha val="0"/>
              </a:srgbClr>
            </a:solidFill>
          </p:spPr>
          <p:txBody>
            <a:bodyPr/>
            <a:lstStyle/>
            <a:p>
              <a:endParaRPr lang="en-US"/>
            </a:p>
          </p:txBody>
        </p:sp>
        <p:sp>
          <p:nvSpPr>
            <p:cNvPr id="24" name="TextBox 24"/>
            <p:cNvSpPr txBox="1"/>
            <p:nvPr/>
          </p:nvSpPr>
          <p:spPr>
            <a:xfrm>
              <a:off x="0" y="-66675"/>
              <a:ext cx="1852800" cy="1919475"/>
            </a:xfrm>
            <a:prstGeom prst="rect">
              <a:avLst/>
            </a:prstGeom>
          </p:spPr>
          <p:txBody>
            <a:bodyPr lIns="0" tIns="0" rIns="0" bIns="0" rtlCol="0" anchor="ctr"/>
            <a:lstStyle/>
            <a:p>
              <a:pPr algn="ctr">
                <a:lnSpc>
                  <a:spcPts val="7200"/>
                </a:lnSpc>
              </a:pPr>
              <a:r>
                <a:rPr lang="en-US" sz="6000" b="1">
                  <a:solidFill>
                    <a:srgbClr val="202A41"/>
                  </a:solidFill>
                  <a:latin typeface="Poppins Bold"/>
                  <a:ea typeface="Poppins Bold"/>
                  <a:cs typeface="Poppins Bold"/>
                  <a:sym typeface="Poppins Bold"/>
                </a:rPr>
                <a:t>05</a:t>
              </a:r>
            </a:p>
          </p:txBody>
        </p:sp>
      </p:grpSp>
      <p:grpSp>
        <p:nvGrpSpPr>
          <p:cNvPr id="25" name="Group 25"/>
          <p:cNvGrpSpPr/>
          <p:nvPr/>
        </p:nvGrpSpPr>
        <p:grpSpPr>
          <a:xfrm>
            <a:off x="7518414" y="7728826"/>
            <a:ext cx="1389600" cy="1389600"/>
            <a:chOff x="0" y="0"/>
            <a:chExt cx="1852800" cy="1852800"/>
          </a:xfrm>
        </p:grpSpPr>
        <p:sp>
          <p:nvSpPr>
            <p:cNvPr id="26" name="Freeform 26"/>
            <p:cNvSpPr/>
            <p:nvPr/>
          </p:nvSpPr>
          <p:spPr>
            <a:xfrm>
              <a:off x="0" y="0"/>
              <a:ext cx="1852800" cy="1852800"/>
            </a:xfrm>
            <a:custGeom>
              <a:avLst/>
              <a:gdLst/>
              <a:ahLst/>
              <a:cxnLst/>
              <a:rect l="l" t="t" r="r" b="b"/>
              <a:pathLst>
                <a:path w="1852800" h="1852800">
                  <a:moveTo>
                    <a:pt x="0" y="0"/>
                  </a:moveTo>
                  <a:lnTo>
                    <a:pt x="1852800" y="0"/>
                  </a:lnTo>
                  <a:lnTo>
                    <a:pt x="1852800" y="1852800"/>
                  </a:lnTo>
                  <a:lnTo>
                    <a:pt x="0" y="1852800"/>
                  </a:lnTo>
                  <a:close/>
                </a:path>
              </a:pathLst>
            </a:custGeom>
            <a:solidFill>
              <a:srgbClr val="000000">
                <a:alpha val="0"/>
              </a:srgbClr>
            </a:solidFill>
          </p:spPr>
          <p:txBody>
            <a:bodyPr/>
            <a:lstStyle/>
            <a:p>
              <a:endParaRPr lang="en-US"/>
            </a:p>
          </p:txBody>
        </p:sp>
        <p:sp>
          <p:nvSpPr>
            <p:cNvPr id="27" name="TextBox 27"/>
            <p:cNvSpPr txBox="1"/>
            <p:nvPr/>
          </p:nvSpPr>
          <p:spPr>
            <a:xfrm>
              <a:off x="0" y="-66675"/>
              <a:ext cx="1852800" cy="1919475"/>
            </a:xfrm>
            <a:prstGeom prst="rect">
              <a:avLst/>
            </a:prstGeom>
          </p:spPr>
          <p:txBody>
            <a:bodyPr lIns="0" tIns="0" rIns="0" bIns="0" rtlCol="0" anchor="ctr"/>
            <a:lstStyle/>
            <a:p>
              <a:pPr algn="ctr">
                <a:lnSpc>
                  <a:spcPts val="7200"/>
                </a:lnSpc>
              </a:pPr>
              <a:r>
                <a:rPr lang="en-US" sz="6000" b="1">
                  <a:solidFill>
                    <a:srgbClr val="202A41"/>
                  </a:solidFill>
                  <a:latin typeface="Poppins Bold"/>
                  <a:ea typeface="Poppins Bold"/>
                  <a:cs typeface="Poppins Bold"/>
                  <a:sym typeface="Poppins Bold"/>
                </a:rPr>
                <a:t>03</a:t>
              </a:r>
            </a:p>
          </p:txBody>
        </p:sp>
      </p:grpSp>
      <p:grpSp>
        <p:nvGrpSpPr>
          <p:cNvPr id="28" name="Group 28"/>
          <p:cNvGrpSpPr/>
          <p:nvPr/>
        </p:nvGrpSpPr>
        <p:grpSpPr>
          <a:xfrm>
            <a:off x="9380014" y="7728826"/>
            <a:ext cx="1389600" cy="1389600"/>
            <a:chOff x="0" y="0"/>
            <a:chExt cx="1852800" cy="1852800"/>
          </a:xfrm>
        </p:grpSpPr>
        <p:sp>
          <p:nvSpPr>
            <p:cNvPr id="29" name="Freeform 29"/>
            <p:cNvSpPr/>
            <p:nvPr/>
          </p:nvSpPr>
          <p:spPr>
            <a:xfrm>
              <a:off x="0" y="0"/>
              <a:ext cx="1852800" cy="1852800"/>
            </a:xfrm>
            <a:custGeom>
              <a:avLst/>
              <a:gdLst/>
              <a:ahLst/>
              <a:cxnLst/>
              <a:rect l="l" t="t" r="r" b="b"/>
              <a:pathLst>
                <a:path w="1852800" h="1852800">
                  <a:moveTo>
                    <a:pt x="0" y="0"/>
                  </a:moveTo>
                  <a:lnTo>
                    <a:pt x="1852800" y="0"/>
                  </a:lnTo>
                  <a:lnTo>
                    <a:pt x="1852800" y="1852800"/>
                  </a:lnTo>
                  <a:lnTo>
                    <a:pt x="0" y="1852800"/>
                  </a:lnTo>
                  <a:close/>
                </a:path>
              </a:pathLst>
            </a:custGeom>
            <a:solidFill>
              <a:srgbClr val="000000">
                <a:alpha val="0"/>
              </a:srgbClr>
            </a:solidFill>
          </p:spPr>
          <p:txBody>
            <a:bodyPr/>
            <a:lstStyle/>
            <a:p>
              <a:endParaRPr lang="en-US"/>
            </a:p>
          </p:txBody>
        </p:sp>
        <p:sp>
          <p:nvSpPr>
            <p:cNvPr id="30" name="TextBox 30"/>
            <p:cNvSpPr txBox="1"/>
            <p:nvPr/>
          </p:nvSpPr>
          <p:spPr>
            <a:xfrm>
              <a:off x="0" y="-66675"/>
              <a:ext cx="1852800" cy="1919475"/>
            </a:xfrm>
            <a:prstGeom prst="rect">
              <a:avLst/>
            </a:prstGeom>
          </p:spPr>
          <p:txBody>
            <a:bodyPr lIns="0" tIns="0" rIns="0" bIns="0" rtlCol="0" anchor="ctr"/>
            <a:lstStyle/>
            <a:p>
              <a:pPr algn="ctr">
                <a:lnSpc>
                  <a:spcPts val="7200"/>
                </a:lnSpc>
              </a:pPr>
              <a:r>
                <a:rPr lang="en-US" sz="6000" b="1">
                  <a:solidFill>
                    <a:srgbClr val="202A41"/>
                  </a:solidFill>
                  <a:latin typeface="Poppins Bold"/>
                  <a:ea typeface="Poppins Bold"/>
                  <a:cs typeface="Poppins Bold"/>
                  <a:sym typeface="Poppins Bold"/>
                </a:rPr>
                <a:t>06</a:t>
              </a:r>
            </a:p>
          </p:txBody>
        </p:sp>
      </p:grpSp>
      <p:grpSp>
        <p:nvGrpSpPr>
          <p:cNvPr id="31" name="Group 31"/>
          <p:cNvGrpSpPr/>
          <p:nvPr/>
        </p:nvGrpSpPr>
        <p:grpSpPr>
          <a:xfrm>
            <a:off x="2561200" y="3398200"/>
            <a:ext cx="4576200" cy="1389600"/>
            <a:chOff x="0" y="0"/>
            <a:chExt cx="6101600" cy="1852800"/>
          </a:xfrm>
        </p:grpSpPr>
        <p:sp>
          <p:nvSpPr>
            <p:cNvPr id="32" name="Freeform 32"/>
            <p:cNvSpPr/>
            <p:nvPr/>
          </p:nvSpPr>
          <p:spPr>
            <a:xfrm>
              <a:off x="0" y="0"/>
              <a:ext cx="6101600" cy="1852800"/>
            </a:xfrm>
            <a:custGeom>
              <a:avLst/>
              <a:gdLst/>
              <a:ahLst/>
              <a:cxnLst/>
              <a:rect l="l" t="t" r="r" b="b"/>
              <a:pathLst>
                <a:path w="6101600" h="1852800">
                  <a:moveTo>
                    <a:pt x="0" y="0"/>
                  </a:moveTo>
                  <a:lnTo>
                    <a:pt x="6101600" y="0"/>
                  </a:lnTo>
                  <a:lnTo>
                    <a:pt x="6101600" y="1852800"/>
                  </a:lnTo>
                  <a:lnTo>
                    <a:pt x="0" y="1852800"/>
                  </a:lnTo>
                  <a:close/>
                </a:path>
              </a:pathLst>
            </a:custGeom>
            <a:solidFill>
              <a:srgbClr val="000000">
                <a:alpha val="0"/>
              </a:srgbClr>
            </a:solidFill>
          </p:spPr>
          <p:txBody>
            <a:bodyPr/>
            <a:lstStyle/>
            <a:p>
              <a:endParaRPr lang="en-US"/>
            </a:p>
          </p:txBody>
        </p:sp>
        <p:sp>
          <p:nvSpPr>
            <p:cNvPr id="33" name="TextBox 33"/>
            <p:cNvSpPr txBox="1"/>
            <p:nvPr/>
          </p:nvSpPr>
          <p:spPr>
            <a:xfrm>
              <a:off x="0" y="-38100"/>
              <a:ext cx="6101600" cy="1890900"/>
            </a:xfrm>
            <a:prstGeom prst="rect">
              <a:avLst/>
            </a:prstGeom>
          </p:spPr>
          <p:txBody>
            <a:bodyPr lIns="0" tIns="0" rIns="0" bIns="0" rtlCol="0" anchor="ctr"/>
            <a:lstStyle/>
            <a:p>
              <a:pPr algn="r">
                <a:lnSpc>
                  <a:spcPts val="4320"/>
                </a:lnSpc>
              </a:pPr>
              <a:r>
                <a:rPr lang="en-US" sz="3600" b="1">
                  <a:solidFill>
                    <a:srgbClr val="202A41"/>
                  </a:solidFill>
                  <a:latin typeface="Poppins Bold"/>
                  <a:ea typeface="Poppins Bold"/>
                  <a:cs typeface="Poppins Bold"/>
                  <a:sym typeface="Poppins Bold"/>
                </a:rPr>
                <a:t>Team Members</a:t>
              </a:r>
            </a:p>
          </p:txBody>
        </p:sp>
      </p:grpSp>
      <p:grpSp>
        <p:nvGrpSpPr>
          <p:cNvPr id="34" name="Group 34"/>
          <p:cNvGrpSpPr/>
          <p:nvPr/>
        </p:nvGrpSpPr>
        <p:grpSpPr>
          <a:xfrm>
            <a:off x="2561200" y="5563524"/>
            <a:ext cx="4576200" cy="1389600"/>
            <a:chOff x="0" y="0"/>
            <a:chExt cx="6101600" cy="1852800"/>
          </a:xfrm>
        </p:grpSpPr>
        <p:sp>
          <p:nvSpPr>
            <p:cNvPr id="35" name="Freeform 35"/>
            <p:cNvSpPr/>
            <p:nvPr/>
          </p:nvSpPr>
          <p:spPr>
            <a:xfrm>
              <a:off x="0" y="0"/>
              <a:ext cx="6101600" cy="1852800"/>
            </a:xfrm>
            <a:custGeom>
              <a:avLst/>
              <a:gdLst/>
              <a:ahLst/>
              <a:cxnLst/>
              <a:rect l="l" t="t" r="r" b="b"/>
              <a:pathLst>
                <a:path w="6101600" h="1852800">
                  <a:moveTo>
                    <a:pt x="0" y="0"/>
                  </a:moveTo>
                  <a:lnTo>
                    <a:pt x="6101600" y="0"/>
                  </a:lnTo>
                  <a:lnTo>
                    <a:pt x="6101600" y="1852800"/>
                  </a:lnTo>
                  <a:lnTo>
                    <a:pt x="0" y="1852800"/>
                  </a:lnTo>
                  <a:close/>
                </a:path>
              </a:pathLst>
            </a:custGeom>
            <a:solidFill>
              <a:srgbClr val="000000">
                <a:alpha val="0"/>
              </a:srgbClr>
            </a:solidFill>
          </p:spPr>
          <p:txBody>
            <a:bodyPr/>
            <a:lstStyle/>
            <a:p>
              <a:endParaRPr lang="en-US"/>
            </a:p>
          </p:txBody>
        </p:sp>
        <p:sp>
          <p:nvSpPr>
            <p:cNvPr id="36" name="TextBox 36"/>
            <p:cNvSpPr txBox="1"/>
            <p:nvPr/>
          </p:nvSpPr>
          <p:spPr>
            <a:xfrm>
              <a:off x="0" y="-38100"/>
              <a:ext cx="6101600" cy="1890900"/>
            </a:xfrm>
            <a:prstGeom prst="rect">
              <a:avLst/>
            </a:prstGeom>
          </p:spPr>
          <p:txBody>
            <a:bodyPr lIns="0" tIns="0" rIns="0" bIns="0" rtlCol="0" anchor="ctr"/>
            <a:lstStyle/>
            <a:p>
              <a:pPr algn="r">
                <a:lnSpc>
                  <a:spcPts val="4320"/>
                </a:lnSpc>
              </a:pPr>
              <a:r>
                <a:rPr lang="en-US" sz="3600" b="1">
                  <a:solidFill>
                    <a:srgbClr val="202A41"/>
                  </a:solidFill>
                  <a:latin typeface="Poppins Bold"/>
                  <a:ea typeface="Poppins Bold"/>
                  <a:cs typeface="Poppins Bold"/>
                  <a:sym typeface="Poppins Bold"/>
                </a:rPr>
                <a:t>Project Overview</a:t>
              </a:r>
            </a:p>
          </p:txBody>
        </p:sp>
      </p:grpSp>
      <p:grpSp>
        <p:nvGrpSpPr>
          <p:cNvPr id="37" name="Group 37"/>
          <p:cNvGrpSpPr/>
          <p:nvPr/>
        </p:nvGrpSpPr>
        <p:grpSpPr>
          <a:xfrm>
            <a:off x="2561200" y="7728846"/>
            <a:ext cx="4576200" cy="1389600"/>
            <a:chOff x="0" y="0"/>
            <a:chExt cx="6101600" cy="1852800"/>
          </a:xfrm>
        </p:grpSpPr>
        <p:sp>
          <p:nvSpPr>
            <p:cNvPr id="38" name="Freeform 38"/>
            <p:cNvSpPr/>
            <p:nvPr/>
          </p:nvSpPr>
          <p:spPr>
            <a:xfrm>
              <a:off x="0" y="0"/>
              <a:ext cx="6101600" cy="1852800"/>
            </a:xfrm>
            <a:custGeom>
              <a:avLst/>
              <a:gdLst/>
              <a:ahLst/>
              <a:cxnLst/>
              <a:rect l="l" t="t" r="r" b="b"/>
              <a:pathLst>
                <a:path w="6101600" h="1852800">
                  <a:moveTo>
                    <a:pt x="0" y="0"/>
                  </a:moveTo>
                  <a:lnTo>
                    <a:pt x="6101600" y="0"/>
                  </a:lnTo>
                  <a:lnTo>
                    <a:pt x="6101600" y="1852800"/>
                  </a:lnTo>
                  <a:lnTo>
                    <a:pt x="0" y="1852800"/>
                  </a:lnTo>
                  <a:close/>
                </a:path>
              </a:pathLst>
            </a:custGeom>
            <a:solidFill>
              <a:srgbClr val="000000">
                <a:alpha val="0"/>
              </a:srgbClr>
            </a:solidFill>
          </p:spPr>
          <p:txBody>
            <a:bodyPr/>
            <a:lstStyle/>
            <a:p>
              <a:endParaRPr lang="en-US"/>
            </a:p>
          </p:txBody>
        </p:sp>
        <p:sp>
          <p:nvSpPr>
            <p:cNvPr id="39" name="TextBox 39"/>
            <p:cNvSpPr txBox="1"/>
            <p:nvPr/>
          </p:nvSpPr>
          <p:spPr>
            <a:xfrm>
              <a:off x="0" y="-38100"/>
              <a:ext cx="6101600" cy="1890900"/>
            </a:xfrm>
            <a:prstGeom prst="rect">
              <a:avLst/>
            </a:prstGeom>
          </p:spPr>
          <p:txBody>
            <a:bodyPr lIns="0" tIns="0" rIns="0" bIns="0" rtlCol="0" anchor="ctr"/>
            <a:lstStyle/>
            <a:p>
              <a:pPr algn="r">
                <a:lnSpc>
                  <a:spcPts val="4320"/>
                </a:lnSpc>
              </a:pPr>
              <a:r>
                <a:rPr lang="en-US" sz="3600" b="1">
                  <a:solidFill>
                    <a:srgbClr val="202A41"/>
                  </a:solidFill>
                  <a:latin typeface="Poppins Bold"/>
                  <a:ea typeface="Poppins Bold"/>
                  <a:cs typeface="Poppins Bold"/>
                  <a:sym typeface="Poppins Bold"/>
                </a:rPr>
                <a:t>Data Description</a:t>
              </a:r>
            </a:p>
          </p:txBody>
        </p:sp>
      </p:grpSp>
      <p:grpSp>
        <p:nvGrpSpPr>
          <p:cNvPr id="40" name="Group 40"/>
          <p:cNvGrpSpPr/>
          <p:nvPr/>
        </p:nvGrpSpPr>
        <p:grpSpPr>
          <a:xfrm>
            <a:off x="11150600" y="3398192"/>
            <a:ext cx="4576200" cy="1389600"/>
            <a:chOff x="0" y="0"/>
            <a:chExt cx="6101600" cy="1852800"/>
          </a:xfrm>
        </p:grpSpPr>
        <p:sp>
          <p:nvSpPr>
            <p:cNvPr id="41" name="Freeform 41"/>
            <p:cNvSpPr/>
            <p:nvPr/>
          </p:nvSpPr>
          <p:spPr>
            <a:xfrm>
              <a:off x="0" y="0"/>
              <a:ext cx="6101600" cy="1852800"/>
            </a:xfrm>
            <a:custGeom>
              <a:avLst/>
              <a:gdLst/>
              <a:ahLst/>
              <a:cxnLst/>
              <a:rect l="l" t="t" r="r" b="b"/>
              <a:pathLst>
                <a:path w="6101600" h="1852800">
                  <a:moveTo>
                    <a:pt x="0" y="0"/>
                  </a:moveTo>
                  <a:lnTo>
                    <a:pt x="6101600" y="0"/>
                  </a:lnTo>
                  <a:lnTo>
                    <a:pt x="6101600" y="1852800"/>
                  </a:lnTo>
                  <a:lnTo>
                    <a:pt x="0" y="1852800"/>
                  </a:lnTo>
                  <a:close/>
                </a:path>
              </a:pathLst>
            </a:custGeom>
            <a:solidFill>
              <a:srgbClr val="000000">
                <a:alpha val="0"/>
              </a:srgbClr>
            </a:solidFill>
          </p:spPr>
          <p:txBody>
            <a:bodyPr/>
            <a:lstStyle/>
            <a:p>
              <a:endParaRPr lang="en-US"/>
            </a:p>
          </p:txBody>
        </p:sp>
        <p:sp>
          <p:nvSpPr>
            <p:cNvPr id="42" name="TextBox 42"/>
            <p:cNvSpPr txBox="1"/>
            <p:nvPr/>
          </p:nvSpPr>
          <p:spPr>
            <a:xfrm>
              <a:off x="0" y="-38100"/>
              <a:ext cx="6101600" cy="1890900"/>
            </a:xfrm>
            <a:prstGeom prst="rect">
              <a:avLst/>
            </a:prstGeom>
          </p:spPr>
          <p:txBody>
            <a:bodyPr lIns="0" tIns="0" rIns="0" bIns="0" rtlCol="0" anchor="ctr"/>
            <a:lstStyle/>
            <a:p>
              <a:pPr algn="l">
                <a:lnSpc>
                  <a:spcPts val="4320"/>
                </a:lnSpc>
              </a:pPr>
              <a:r>
                <a:rPr lang="en-US" sz="3600" b="1">
                  <a:solidFill>
                    <a:srgbClr val="202A41"/>
                  </a:solidFill>
                  <a:latin typeface="Poppins Bold"/>
                  <a:ea typeface="Poppins Bold"/>
                  <a:cs typeface="Poppins Bold"/>
                  <a:sym typeface="Poppins Bold"/>
                </a:rPr>
                <a:t>Steps</a:t>
              </a:r>
            </a:p>
          </p:txBody>
        </p:sp>
      </p:grpSp>
      <p:grpSp>
        <p:nvGrpSpPr>
          <p:cNvPr id="43" name="Group 43"/>
          <p:cNvGrpSpPr/>
          <p:nvPr/>
        </p:nvGrpSpPr>
        <p:grpSpPr>
          <a:xfrm>
            <a:off x="11150600" y="5563508"/>
            <a:ext cx="6583680" cy="1389600"/>
            <a:chOff x="0" y="0"/>
            <a:chExt cx="8778240" cy="1852800"/>
          </a:xfrm>
        </p:grpSpPr>
        <p:sp>
          <p:nvSpPr>
            <p:cNvPr id="44" name="Freeform 44"/>
            <p:cNvSpPr/>
            <p:nvPr/>
          </p:nvSpPr>
          <p:spPr>
            <a:xfrm>
              <a:off x="0" y="0"/>
              <a:ext cx="8778240" cy="1852800"/>
            </a:xfrm>
            <a:custGeom>
              <a:avLst/>
              <a:gdLst/>
              <a:ahLst/>
              <a:cxnLst/>
              <a:rect l="l" t="t" r="r" b="b"/>
              <a:pathLst>
                <a:path w="8778240" h="1852800">
                  <a:moveTo>
                    <a:pt x="0" y="0"/>
                  </a:moveTo>
                  <a:lnTo>
                    <a:pt x="8778240" y="0"/>
                  </a:lnTo>
                  <a:lnTo>
                    <a:pt x="8778240" y="1852800"/>
                  </a:lnTo>
                  <a:lnTo>
                    <a:pt x="0" y="1852800"/>
                  </a:lnTo>
                  <a:close/>
                </a:path>
              </a:pathLst>
            </a:custGeom>
            <a:solidFill>
              <a:srgbClr val="000000">
                <a:alpha val="0"/>
              </a:srgbClr>
            </a:solidFill>
          </p:spPr>
          <p:txBody>
            <a:bodyPr/>
            <a:lstStyle/>
            <a:p>
              <a:endParaRPr lang="en-US"/>
            </a:p>
          </p:txBody>
        </p:sp>
        <p:sp>
          <p:nvSpPr>
            <p:cNvPr id="45" name="TextBox 45"/>
            <p:cNvSpPr txBox="1"/>
            <p:nvPr/>
          </p:nvSpPr>
          <p:spPr>
            <a:xfrm>
              <a:off x="0" y="-38100"/>
              <a:ext cx="8778240" cy="1890900"/>
            </a:xfrm>
            <a:prstGeom prst="rect">
              <a:avLst/>
            </a:prstGeom>
          </p:spPr>
          <p:txBody>
            <a:bodyPr lIns="0" tIns="0" rIns="0" bIns="0" rtlCol="0" anchor="ctr"/>
            <a:lstStyle/>
            <a:p>
              <a:pPr algn="l">
                <a:lnSpc>
                  <a:spcPts val="4320"/>
                </a:lnSpc>
              </a:pPr>
              <a:r>
                <a:rPr lang="en-US" sz="3600" b="1">
                  <a:solidFill>
                    <a:srgbClr val="202A41"/>
                  </a:solidFill>
                  <a:latin typeface="Poppins Bold"/>
                  <a:ea typeface="Poppins Bold"/>
                  <a:cs typeface="Poppins Bold"/>
                  <a:sym typeface="Poppins Bold"/>
                </a:rPr>
                <a:t>Data Cleaning &amp; Modeling</a:t>
              </a:r>
            </a:p>
          </p:txBody>
        </p:sp>
      </p:grpSp>
      <p:grpSp>
        <p:nvGrpSpPr>
          <p:cNvPr id="46" name="Group 46"/>
          <p:cNvGrpSpPr/>
          <p:nvPr/>
        </p:nvGrpSpPr>
        <p:grpSpPr>
          <a:xfrm>
            <a:off x="11150600" y="7728826"/>
            <a:ext cx="4576200" cy="1389600"/>
            <a:chOff x="0" y="0"/>
            <a:chExt cx="6101600" cy="1852800"/>
          </a:xfrm>
        </p:grpSpPr>
        <p:sp>
          <p:nvSpPr>
            <p:cNvPr id="47" name="Freeform 47"/>
            <p:cNvSpPr/>
            <p:nvPr/>
          </p:nvSpPr>
          <p:spPr>
            <a:xfrm>
              <a:off x="0" y="0"/>
              <a:ext cx="6101600" cy="1852800"/>
            </a:xfrm>
            <a:custGeom>
              <a:avLst/>
              <a:gdLst/>
              <a:ahLst/>
              <a:cxnLst/>
              <a:rect l="l" t="t" r="r" b="b"/>
              <a:pathLst>
                <a:path w="6101600" h="1852800">
                  <a:moveTo>
                    <a:pt x="0" y="0"/>
                  </a:moveTo>
                  <a:lnTo>
                    <a:pt x="6101600" y="0"/>
                  </a:lnTo>
                  <a:lnTo>
                    <a:pt x="6101600" y="1852800"/>
                  </a:lnTo>
                  <a:lnTo>
                    <a:pt x="0" y="1852800"/>
                  </a:lnTo>
                  <a:close/>
                </a:path>
              </a:pathLst>
            </a:custGeom>
            <a:solidFill>
              <a:srgbClr val="000000">
                <a:alpha val="0"/>
              </a:srgbClr>
            </a:solidFill>
          </p:spPr>
          <p:txBody>
            <a:bodyPr/>
            <a:lstStyle/>
            <a:p>
              <a:endParaRPr lang="en-US"/>
            </a:p>
          </p:txBody>
        </p:sp>
        <p:sp>
          <p:nvSpPr>
            <p:cNvPr id="48" name="TextBox 48"/>
            <p:cNvSpPr txBox="1"/>
            <p:nvPr/>
          </p:nvSpPr>
          <p:spPr>
            <a:xfrm>
              <a:off x="0" y="-38100"/>
              <a:ext cx="6101600" cy="1890900"/>
            </a:xfrm>
            <a:prstGeom prst="rect">
              <a:avLst/>
            </a:prstGeom>
          </p:spPr>
          <p:txBody>
            <a:bodyPr lIns="0" tIns="0" rIns="0" bIns="0" rtlCol="0" anchor="ctr"/>
            <a:lstStyle/>
            <a:p>
              <a:pPr algn="l">
                <a:lnSpc>
                  <a:spcPts val="4320"/>
                </a:lnSpc>
              </a:pPr>
              <a:r>
                <a:rPr lang="en-US" sz="3600" b="1">
                  <a:solidFill>
                    <a:srgbClr val="202A41"/>
                  </a:solidFill>
                  <a:latin typeface="Poppins Bold"/>
                  <a:ea typeface="Poppins Bold"/>
                  <a:cs typeface="Poppins Bold"/>
                  <a:sym typeface="Poppins Bold"/>
                </a:rPr>
                <a:t>Insights &amp; Visual</a:t>
              </a:r>
            </a:p>
          </p:txBody>
        </p:sp>
      </p:grpSp>
      <p:grpSp>
        <p:nvGrpSpPr>
          <p:cNvPr id="49" name="Group 49"/>
          <p:cNvGrpSpPr>
            <a:grpSpLocks noChangeAspect="1"/>
          </p:cNvGrpSpPr>
          <p:nvPr/>
        </p:nvGrpSpPr>
        <p:grpSpPr>
          <a:xfrm>
            <a:off x="152400" y="7424100"/>
            <a:ext cx="3536000" cy="2701150"/>
            <a:chOff x="0" y="0"/>
            <a:chExt cx="4714667" cy="3601533"/>
          </a:xfrm>
        </p:grpSpPr>
        <p:sp>
          <p:nvSpPr>
            <p:cNvPr id="50" name="Freeform 50"/>
            <p:cNvSpPr/>
            <p:nvPr/>
          </p:nvSpPr>
          <p:spPr>
            <a:xfrm>
              <a:off x="0" y="0"/>
              <a:ext cx="4714621" cy="3601593"/>
            </a:xfrm>
            <a:custGeom>
              <a:avLst/>
              <a:gdLst/>
              <a:ahLst/>
              <a:cxnLst/>
              <a:rect l="l" t="t" r="r" b="b"/>
              <a:pathLst>
                <a:path w="4714621" h="3601593">
                  <a:moveTo>
                    <a:pt x="0" y="0"/>
                  </a:moveTo>
                  <a:lnTo>
                    <a:pt x="4714621" y="0"/>
                  </a:lnTo>
                  <a:lnTo>
                    <a:pt x="4714621" y="3601593"/>
                  </a:lnTo>
                  <a:lnTo>
                    <a:pt x="0" y="3601593"/>
                  </a:lnTo>
                  <a:lnTo>
                    <a:pt x="0" y="0"/>
                  </a:lnTo>
                  <a:close/>
                </a:path>
              </a:pathLst>
            </a:custGeom>
            <a:blipFill>
              <a:blip r:embed="rId8"/>
              <a:stretch>
                <a:fillRect r="-1" b="1"/>
              </a:stretch>
            </a:blipFill>
          </p:spPr>
          <p:txBody>
            <a:bodyPr/>
            <a:lstStyle/>
            <a:p>
              <a:endParaRPr lang="en-US"/>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5400000">
            <a:off x="-50" y="8341450"/>
            <a:ext cx="1945550" cy="1945550"/>
            <a:chOff x="0" y="0"/>
            <a:chExt cx="2594067" cy="2594067"/>
          </a:xfrm>
        </p:grpSpPr>
        <p:sp>
          <p:nvSpPr>
            <p:cNvPr id="5" name="Freeform 5"/>
            <p:cNvSpPr/>
            <p:nvPr/>
          </p:nvSpPr>
          <p:spPr>
            <a:xfrm flipH="1">
              <a:off x="0" y="0"/>
              <a:ext cx="2594102" cy="2594102"/>
            </a:xfrm>
            <a:custGeom>
              <a:avLst/>
              <a:gdLst/>
              <a:ahLst/>
              <a:cxnLst/>
              <a:rect l="l" t="t" r="r" b="b"/>
              <a:pathLst>
                <a:path w="2594102" h="2594102">
                  <a:moveTo>
                    <a:pt x="2594102" y="0"/>
                  </a:moveTo>
                  <a:lnTo>
                    <a:pt x="0" y="0"/>
                  </a:lnTo>
                  <a:lnTo>
                    <a:pt x="0" y="2594102"/>
                  </a:lnTo>
                  <a:lnTo>
                    <a:pt x="2594102" y="2594102"/>
                  </a:lnTo>
                  <a:lnTo>
                    <a:pt x="2594102" y="0"/>
                  </a:lnTo>
                  <a:close/>
                </a:path>
              </a:pathLst>
            </a:custGeom>
            <a:blipFill>
              <a:blip r:embed="rId4"/>
              <a:stretch>
                <a:fillRect r="1" b="1"/>
              </a:stretch>
            </a:blipFill>
          </p:spPr>
          <p:txBody>
            <a:bodyPr/>
            <a:lstStyle/>
            <a:p>
              <a:endParaRPr lang="en-US"/>
            </a:p>
          </p:txBody>
        </p:sp>
      </p:grpSp>
      <p:grpSp>
        <p:nvGrpSpPr>
          <p:cNvPr id="6" name="Group 6"/>
          <p:cNvGrpSpPr>
            <a:grpSpLocks noChangeAspect="1"/>
          </p:cNvGrpSpPr>
          <p:nvPr/>
        </p:nvGrpSpPr>
        <p:grpSpPr>
          <a:xfrm rot="-5400000">
            <a:off x="15019202" y="7007506"/>
            <a:ext cx="3433390" cy="2615894"/>
            <a:chOff x="0" y="0"/>
            <a:chExt cx="4577853" cy="3487859"/>
          </a:xfrm>
        </p:grpSpPr>
        <p:sp>
          <p:nvSpPr>
            <p:cNvPr id="7" name="Freeform 7"/>
            <p:cNvSpPr/>
            <p:nvPr/>
          </p:nvSpPr>
          <p:spPr>
            <a:xfrm>
              <a:off x="0" y="0"/>
              <a:ext cx="4577842" cy="3487801"/>
            </a:xfrm>
            <a:custGeom>
              <a:avLst/>
              <a:gdLst/>
              <a:ahLst/>
              <a:cxnLst/>
              <a:rect l="l" t="t" r="r" b="b"/>
              <a:pathLst>
                <a:path w="4577842" h="3487801">
                  <a:moveTo>
                    <a:pt x="0" y="0"/>
                  </a:moveTo>
                  <a:lnTo>
                    <a:pt x="4577842" y="0"/>
                  </a:lnTo>
                  <a:lnTo>
                    <a:pt x="4577842" y="3487801"/>
                  </a:lnTo>
                  <a:lnTo>
                    <a:pt x="0" y="3487801"/>
                  </a:lnTo>
                  <a:lnTo>
                    <a:pt x="0" y="0"/>
                  </a:lnTo>
                  <a:close/>
                </a:path>
              </a:pathLst>
            </a:custGeom>
            <a:blipFill>
              <a:blip r:embed="rId5"/>
              <a:stretch>
                <a:fillRect t="-129" b="-133"/>
              </a:stretch>
            </a:blipFill>
          </p:spPr>
          <p:txBody>
            <a:bodyPr/>
            <a:lstStyle/>
            <a:p>
              <a:endParaRPr lang="en-US"/>
            </a:p>
          </p:txBody>
        </p:sp>
      </p:grpSp>
      <p:grpSp>
        <p:nvGrpSpPr>
          <p:cNvPr id="8" name="Group 8"/>
          <p:cNvGrpSpPr>
            <a:grpSpLocks noChangeAspect="1"/>
          </p:cNvGrpSpPr>
          <p:nvPr/>
        </p:nvGrpSpPr>
        <p:grpSpPr>
          <a:xfrm>
            <a:off x="0" y="0"/>
            <a:ext cx="11675798" cy="1072100"/>
            <a:chOff x="0" y="0"/>
            <a:chExt cx="15567731" cy="1429467"/>
          </a:xfrm>
        </p:grpSpPr>
        <p:sp>
          <p:nvSpPr>
            <p:cNvPr id="9" name="Freeform 9"/>
            <p:cNvSpPr/>
            <p:nvPr/>
          </p:nvSpPr>
          <p:spPr>
            <a:xfrm>
              <a:off x="0" y="0"/>
              <a:ext cx="15567788" cy="1429512"/>
            </a:xfrm>
            <a:custGeom>
              <a:avLst/>
              <a:gdLst/>
              <a:ahLst/>
              <a:cxnLst/>
              <a:rect l="l" t="t" r="r" b="b"/>
              <a:pathLst>
                <a:path w="15567788" h="1429512">
                  <a:moveTo>
                    <a:pt x="0" y="0"/>
                  </a:moveTo>
                  <a:lnTo>
                    <a:pt x="15567788" y="0"/>
                  </a:lnTo>
                  <a:lnTo>
                    <a:pt x="15567788" y="1429512"/>
                  </a:lnTo>
                  <a:lnTo>
                    <a:pt x="0" y="1429512"/>
                  </a:lnTo>
                  <a:lnTo>
                    <a:pt x="0" y="0"/>
                  </a:lnTo>
                  <a:close/>
                </a:path>
              </a:pathLst>
            </a:custGeom>
            <a:blipFill>
              <a:blip r:embed="rId6"/>
              <a:stretch>
                <a:fillRect t="-14378" b="-14375"/>
              </a:stretch>
            </a:blipFill>
          </p:spPr>
          <p:txBody>
            <a:bodyPr/>
            <a:lstStyle/>
            <a:p>
              <a:endParaRPr lang="en-US"/>
            </a:p>
          </p:txBody>
        </p:sp>
      </p:grpSp>
      <p:grpSp>
        <p:nvGrpSpPr>
          <p:cNvPr id="10" name="Group 10"/>
          <p:cNvGrpSpPr>
            <a:grpSpLocks noChangeAspect="1"/>
          </p:cNvGrpSpPr>
          <p:nvPr/>
        </p:nvGrpSpPr>
        <p:grpSpPr>
          <a:xfrm>
            <a:off x="530250" y="493210"/>
            <a:ext cx="3170928" cy="138000"/>
            <a:chOff x="0" y="0"/>
            <a:chExt cx="4227904" cy="184000"/>
          </a:xfrm>
        </p:grpSpPr>
        <p:sp>
          <p:nvSpPr>
            <p:cNvPr id="11" name="Freeform 11"/>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7"/>
              <a:stretch>
                <a:fillRect l="-2" b="12"/>
              </a:stretch>
            </a:blipFill>
          </p:spPr>
          <p:txBody>
            <a:bodyPr/>
            <a:lstStyle/>
            <a:p>
              <a:endParaRPr lang="en-US"/>
            </a:p>
          </p:txBody>
        </p:sp>
      </p:grpSp>
      <p:grpSp>
        <p:nvGrpSpPr>
          <p:cNvPr id="12" name="Group 12"/>
          <p:cNvGrpSpPr/>
          <p:nvPr/>
        </p:nvGrpSpPr>
        <p:grpSpPr>
          <a:xfrm>
            <a:off x="1426450" y="1975076"/>
            <a:ext cx="8589600" cy="1280160"/>
            <a:chOff x="0" y="0"/>
            <a:chExt cx="11452800" cy="1706880"/>
          </a:xfrm>
        </p:grpSpPr>
        <p:sp>
          <p:nvSpPr>
            <p:cNvPr id="13" name="Freeform 13"/>
            <p:cNvSpPr/>
            <p:nvPr/>
          </p:nvSpPr>
          <p:spPr>
            <a:xfrm>
              <a:off x="0" y="0"/>
              <a:ext cx="11452800" cy="1706880"/>
            </a:xfrm>
            <a:custGeom>
              <a:avLst/>
              <a:gdLst/>
              <a:ahLst/>
              <a:cxnLst/>
              <a:rect l="l" t="t" r="r" b="b"/>
              <a:pathLst>
                <a:path w="11452800" h="1706880">
                  <a:moveTo>
                    <a:pt x="0" y="0"/>
                  </a:moveTo>
                  <a:lnTo>
                    <a:pt x="11452800" y="0"/>
                  </a:lnTo>
                  <a:lnTo>
                    <a:pt x="11452800" y="1706880"/>
                  </a:lnTo>
                  <a:lnTo>
                    <a:pt x="0" y="1706880"/>
                  </a:lnTo>
                  <a:close/>
                </a:path>
              </a:pathLst>
            </a:custGeom>
            <a:solidFill>
              <a:srgbClr val="000000">
                <a:alpha val="0"/>
              </a:srgbClr>
            </a:solidFill>
          </p:spPr>
          <p:txBody>
            <a:bodyPr/>
            <a:lstStyle/>
            <a:p>
              <a:endParaRPr lang="en-US"/>
            </a:p>
          </p:txBody>
        </p:sp>
        <p:sp>
          <p:nvSpPr>
            <p:cNvPr id="14" name="TextBox 14"/>
            <p:cNvSpPr txBox="1"/>
            <p:nvPr/>
          </p:nvSpPr>
          <p:spPr>
            <a:xfrm>
              <a:off x="0" y="-66675"/>
              <a:ext cx="11452800" cy="1773555"/>
            </a:xfrm>
            <a:prstGeom prst="rect">
              <a:avLst/>
            </a:prstGeom>
          </p:spPr>
          <p:txBody>
            <a:bodyPr lIns="0" tIns="0" rIns="0" bIns="0" rtlCol="0" anchor="b"/>
            <a:lstStyle/>
            <a:p>
              <a:pPr algn="l">
                <a:lnSpc>
                  <a:spcPts val="7200"/>
                </a:lnSpc>
              </a:pPr>
              <a:r>
                <a:rPr lang="en-US" sz="6000" b="1">
                  <a:solidFill>
                    <a:srgbClr val="202A41"/>
                  </a:solidFill>
                  <a:latin typeface="Poppins Bold"/>
                  <a:ea typeface="Poppins Bold"/>
                  <a:cs typeface="Poppins Bold"/>
                  <a:sym typeface="Poppins Bold"/>
                </a:rPr>
                <a:t>Project Overview</a:t>
              </a:r>
            </a:p>
          </p:txBody>
        </p:sp>
      </p:grpSp>
      <p:sp>
        <p:nvSpPr>
          <p:cNvPr id="15" name="TextBox 15"/>
          <p:cNvSpPr txBox="1"/>
          <p:nvPr/>
        </p:nvSpPr>
        <p:spPr>
          <a:xfrm>
            <a:off x="1517875" y="4282200"/>
            <a:ext cx="8406750" cy="2124075"/>
          </a:xfrm>
          <a:prstGeom prst="rect">
            <a:avLst/>
          </a:prstGeom>
        </p:spPr>
        <p:txBody>
          <a:bodyPr lIns="0" tIns="0" rIns="0" bIns="0" rtlCol="0" anchor="t">
            <a:spAutoFit/>
          </a:bodyPr>
          <a:lstStyle/>
          <a:p>
            <a:pPr algn="l">
              <a:lnSpc>
                <a:spcPts val="3359"/>
              </a:lnSpc>
            </a:pPr>
            <a:r>
              <a:rPr lang="en-US" sz="2799">
                <a:solidFill>
                  <a:srgbClr val="202A41"/>
                </a:solidFill>
                <a:latin typeface="Poppins"/>
                <a:ea typeface="Poppins"/>
                <a:cs typeface="Poppins"/>
                <a:sym typeface="Poppins"/>
              </a:rPr>
              <a:t>Our project focuses on analysis of UK railway operations from January to April 2024 using Power BI. Our goal is to provide key insights to improve service performance and increase passenger satisfaction.</a:t>
            </a:r>
          </a:p>
        </p:txBody>
      </p:sp>
      <p:grpSp>
        <p:nvGrpSpPr>
          <p:cNvPr id="16" name="Group 16"/>
          <p:cNvGrpSpPr>
            <a:grpSpLocks noChangeAspect="1"/>
          </p:cNvGrpSpPr>
          <p:nvPr/>
        </p:nvGrpSpPr>
        <p:grpSpPr>
          <a:xfrm>
            <a:off x="11287550" y="1079000"/>
            <a:ext cx="5574000" cy="8128800"/>
            <a:chOff x="0" y="0"/>
            <a:chExt cx="7432000" cy="10838400"/>
          </a:xfrm>
        </p:grpSpPr>
        <p:sp>
          <p:nvSpPr>
            <p:cNvPr id="17" name="Freeform 17"/>
            <p:cNvSpPr/>
            <p:nvPr/>
          </p:nvSpPr>
          <p:spPr>
            <a:xfrm>
              <a:off x="0" y="0"/>
              <a:ext cx="7432040" cy="10838434"/>
            </a:xfrm>
            <a:custGeom>
              <a:avLst/>
              <a:gdLst/>
              <a:ahLst/>
              <a:cxnLst/>
              <a:rect l="l" t="t" r="r" b="b"/>
              <a:pathLst>
                <a:path w="7432040" h="10838434">
                  <a:moveTo>
                    <a:pt x="0" y="0"/>
                  </a:moveTo>
                  <a:lnTo>
                    <a:pt x="7432040" y="0"/>
                  </a:lnTo>
                  <a:lnTo>
                    <a:pt x="7432040" y="10838434"/>
                  </a:lnTo>
                  <a:lnTo>
                    <a:pt x="0" y="10838434"/>
                  </a:lnTo>
                  <a:lnTo>
                    <a:pt x="0" y="0"/>
                  </a:lnTo>
                  <a:close/>
                </a:path>
              </a:pathLst>
            </a:custGeom>
            <a:blipFill>
              <a:blip r:embed="rId8"/>
              <a:stretch>
                <a:fillRect l="-204" r="-2227"/>
              </a:stretch>
            </a:blipFill>
          </p:spPr>
          <p:txBody>
            <a:bodyPr/>
            <a:lstStyle/>
            <a:p>
              <a:endParaRPr lang="en-US"/>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a:off x="5240950" y="0"/>
            <a:ext cx="13047052" cy="739800"/>
            <a:chOff x="0" y="0"/>
            <a:chExt cx="17396069" cy="986400"/>
          </a:xfrm>
        </p:grpSpPr>
        <p:sp>
          <p:nvSpPr>
            <p:cNvPr id="5" name="Freeform 5"/>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4"/>
              <a:stretch>
                <a:fillRect t="-54253" b="-54252"/>
              </a:stretch>
            </a:blipFill>
          </p:spPr>
          <p:txBody>
            <a:bodyPr/>
            <a:lstStyle/>
            <a:p>
              <a:endParaRPr lang="en-US"/>
            </a:p>
          </p:txBody>
        </p:sp>
      </p:grpSp>
      <p:grpSp>
        <p:nvGrpSpPr>
          <p:cNvPr id="6" name="Group 6"/>
          <p:cNvGrpSpPr>
            <a:grpSpLocks noChangeAspect="1"/>
          </p:cNvGrpSpPr>
          <p:nvPr/>
        </p:nvGrpSpPr>
        <p:grpSpPr>
          <a:xfrm>
            <a:off x="14586824" y="300910"/>
            <a:ext cx="3170928" cy="138000"/>
            <a:chOff x="0" y="0"/>
            <a:chExt cx="4227904" cy="184000"/>
          </a:xfrm>
        </p:grpSpPr>
        <p:sp>
          <p:nvSpPr>
            <p:cNvPr id="7" name="Freeform 7"/>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5"/>
              <a:stretch>
                <a:fillRect l="-2" b="12"/>
              </a:stretch>
            </a:blipFill>
          </p:spPr>
          <p:txBody>
            <a:bodyPr/>
            <a:lstStyle/>
            <a:p>
              <a:endParaRPr lang="en-US"/>
            </a:p>
          </p:txBody>
        </p:sp>
      </p:grpSp>
      <p:grpSp>
        <p:nvGrpSpPr>
          <p:cNvPr id="8" name="Group 8"/>
          <p:cNvGrpSpPr>
            <a:grpSpLocks noChangeAspect="1"/>
          </p:cNvGrpSpPr>
          <p:nvPr/>
        </p:nvGrpSpPr>
        <p:grpSpPr>
          <a:xfrm>
            <a:off x="0" y="0"/>
            <a:ext cx="1945550" cy="1945550"/>
            <a:chOff x="0" y="0"/>
            <a:chExt cx="2594067" cy="2594067"/>
          </a:xfrm>
        </p:grpSpPr>
        <p:sp>
          <p:nvSpPr>
            <p:cNvPr id="9" name="Freeform 9"/>
            <p:cNvSpPr/>
            <p:nvPr/>
          </p:nvSpPr>
          <p:spPr>
            <a:xfrm flipH="1">
              <a:off x="0" y="0"/>
              <a:ext cx="2594102" cy="2594102"/>
            </a:xfrm>
            <a:custGeom>
              <a:avLst/>
              <a:gdLst/>
              <a:ahLst/>
              <a:cxnLst/>
              <a:rect l="l" t="t" r="r" b="b"/>
              <a:pathLst>
                <a:path w="2594102" h="2594102">
                  <a:moveTo>
                    <a:pt x="2594102" y="0"/>
                  </a:moveTo>
                  <a:lnTo>
                    <a:pt x="0" y="0"/>
                  </a:lnTo>
                  <a:lnTo>
                    <a:pt x="0" y="2594102"/>
                  </a:lnTo>
                  <a:lnTo>
                    <a:pt x="2594102" y="2594102"/>
                  </a:lnTo>
                  <a:lnTo>
                    <a:pt x="2594102" y="0"/>
                  </a:lnTo>
                  <a:close/>
                </a:path>
              </a:pathLst>
            </a:custGeom>
            <a:blipFill>
              <a:blip r:embed="rId6"/>
              <a:stretch>
                <a:fillRect r="1" b="1"/>
              </a:stretch>
            </a:blipFill>
          </p:spPr>
          <p:txBody>
            <a:bodyPr/>
            <a:lstStyle/>
            <a:p>
              <a:endParaRPr lang="en-US"/>
            </a:p>
          </p:txBody>
        </p:sp>
      </p:grpSp>
      <p:grpSp>
        <p:nvGrpSpPr>
          <p:cNvPr id="10" name="Group 10"/>
          <p:cNvGrpSpPr>
            <a:grpSpLocks noChangeAspect="1"/>
          </p:cNvGrpSpPr>
          <p:nvPr/>
        </p:nvGrpSpPr>
        <p:grpSpPr>
          <a:xfrm>
            <a:off x="16342450" y="8341474"/>
            <a:ext cx="1945550" cy="1945550"/>
            <a:chOff x="0" y="0"/>
            <a:chExt cx="2594067" cy="2594067"/>
          </a:xfrm>
        </p:grpSpPr>
        <p:sp>
          <p:nvSpPr>
            <p:cNvPr id="11" name="Freeform 11"/>
            <p:cNvSpPr/>
            <p:nvPr/>
          </p:nvSpPr>
          <p:spPr>
            <a:xfrm flipH="1">
              <a:off x="0" y="0"/>
              <a:ext cx="2594102" cy="2594102"/>
            </a:xfrm>
            <a:custGeom>
              <a:avLst/>
              <a:gdLst/>
              <a:ahLst/>
              <a:cxnLst/>
              <a:rect l="l" t="t" r="r" b="b"/>
              <a:pathLst>
                <a:path w="2594102" h="2594102">
                  <a:moveTo>
                    <a:pt x="2594102" y="0"/>
                  </a:moveTo>
                  <a:lnTo>
                    <a:pt x="0" y="0"/>
                  </a:lnTo>
                  <a:lnTo>
                    <a:pt x="0" y="2594102"/>
                  </a:lnTo>
                  <a:lnTo>
                    <a:pt x="2594102" y="2594102"/>
                  </a:lnTo>
                  <a:lnTo>
                    <a:pt x="2594102" y="0"/>
                  </a:lnTo>
                  <a:close/>
                </a:path>
              </a:pathLst>
            </a:custGeom>
            <a:blipFill>
              <a:blip r:embed="rId7"/>
              <a:stretch>
                <a:fillRect r="1" b="1"/>
              </a:stretch>
            </a:blipFill>
          </p:spPr>
          <p:txBody>
            <a:bodyPr/>
            <a:lstStyle/>
            <a:p>
              <a:endParaRPr lang="en-US"/>
            </a:p>
          </p:txBody>
        </p:sp>
      </p:grpSp>
      <p:sp>
        <p:nvSpPr>
          <p:cNvPr id="12" name="TextBox 12"/>
          <p:cNvSpPr txBox="1"/>
          <p:nvPr/>
        </p:nvSpPr>
        <p:spPr>
          <a:xfrm>
            <a:off x="1531425" y="1103750"/>
            <a:ext cx="15225150" cy="102922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Data Description</a:t>
            </a:r>
          </a:p>
        </p:txBody>
      </p:sp>
      <p:sp>
        <p:nvSpPr>
          <p:cNvPr id="13" name="TextBox 13"/>
          <p:cNvSpPr txBox="1"/>
          <p:nvPr/>
        </p:nvSpPr>
        <p:spPr>
          <a:xfrm>
            <a:off x="1200811" y="3443250"/>
            <a:ext cx="8268076" cy="4219575"/>
          </a:xfrm>
          <a:prstGeom prst="rect">
            <a:avLst/>
          </a:prstGeom>
        </p:spPr>
        <p:txBody>
          <a:bodyPr lIns="0" tIns="0" rIns="0" bIns="0" rtlCol="0" anchor="t">
            <a:spAutoFit/>
          </a:bodyPr>
          <a:lstStyle/>
          <a:p>
            <a:pPr algn="l">
              <a:lnSpc>
                <a:spcPts val="3359"/>
              </a:lnSpc>
            </a:pPr>
            <a:r>
              <a:rPr lang="en-US" sz="2799">
                <a:solidFill>
                  <a:srgbClr val="202A41"/>
                </a:solidFill>
                <a:latin typeface="Poppins"/>
                <a:ea typeface="Poppins"/>
                <a:cs typeface="Poppins"/>
                <a:sym typeface="Poppins"/>
              </a:rPr>
              <a:t>- The original dataset is CSV file which consists of 18 columns that simulates train ride records across the UK rail network from </a:t>
            </a:r>
            <a:r>
              <a:rPr lang="en-US" sz="2799" b="1">
                <a:solidFill>
                  <a:srgbClr val="202A41"/>
                </a:solidFill>
                <a:latin typeface="Poppins Bold"/>
                <a:ea typeface="Poppins Bold"/>
                <a:cs typeface="Poppins Bold"/>
                <a:sym typeface="Poppins Bold"/>
              </a:rPr>
              <a:t>January to April 2024.</a:t>
            </a:r>
          </a:p>
          <a:p>
            <a:pPr algn="l">
              <a:lnSpc>
                <a:spcPts val="3359"/>
              </a:lnSpc>
            </a:pPr>
            <a:endParaRPr lang="en-US" sz="2799" b="1">
              <a:solidFill>
                <a:srgbClr val="202A41"/>
              </a:solidFill>
              <a:latin typeface="Poppins Bold"/>
              <a:ea typeface="Poppins Bold"/>
              <a:cs typeface="Poppins Bold"/>
              <a:sym typeface="Poppins Bold"/>
            </a:endParaRPr>
          </a:p>
          <a:p>
            <a:pPr algn="l">
              <a:lnSpc>
                <a:spcPts val="3359"/>
              </a:lnSpc>
            </a:pPr>
            <a:r>
              <a:rPr lang="en-US" sz="2799">
                <a:solidFill>
                  <a:srgbClr val="202A41"/>
                </a:solidFill>
                <a:latin typeface="Poppins"/>
                <a:ea typeface="Poppins"/>
                <a:cs typeface="Poppins"/>
                <a:sym typeface="Poppins"/>
              </a:rPr>
              <a:t>- This dataset contains ticket pricing and availability data for UK National Rail services. It includes details about train journeys between UK stations, fare types, and ticket prices.</a:t>
            </a:r>
          </a:p>
          <a:p>
            <a:pPr algn="l">
              <a:lnSpc>
                <a:spcPts val="3359"/>
              </a:lnSpc>
            </a:pPr>
            <a:endParaRPr lang="en-US" sz="2799">
              <a:solidFill>
                <a:srgbClr val="202A41"/>
              </a:solidFill>
              <a:latin typeface="Poppins"/>
              <a:ea typeface="Poppins"/>
              <a:cs typeface="Poppins"/>
              <a:sym typeface="Poppins"/>
            </a:endParaRPr>
          </a:p>
        </p:txBody>
      </p:sp>
      <p:grpSp>
        <p:nvGrpSpPr>
          <p:cNvPr id="14" name="Group 14"/>
          <p:cNvGrpSpPr>
            <a:grpSpLocks noChangeAspect="1"/>
          </p:cNvGrpSpPr>
          <p:nvPr/>
        </p:nvGrpSpPr>
        <p:grpSpPr>
          <a:xfrm>
            <a:off x="9976626" y="3033132"/>
            <a:ext cx="7990520" cy="5278244"/>
            <a:chOff x="0" y="0"/>
            <a:chExt cx="10654027" cy="7037659"/>
          </a:xfrm>
        </p:grpSpPr>
        <p:sp>
          <p:nvSpPr>
            <p:cNvPr id="15" name="Freeform 15"/>
            <p:cNvSpPr/>
            <p:nvPr/>
          </p:nvSpPr>
          <p:spPr>
            <a:xfrm>
              <a:off x="0" y="0"/>
              <a:ext cx="10654030" cy="7037705"/>
            </a:xfrm>
            <a:custGeom>
              <a:avLst/>
              <a:gdLst/>
              <a:ahLst/>
              <a:cxnLst/>
              <a:rect l="l" t="t" r="r" b="b"/>
              <a:pathLst>
                <a:path w="10654030" h="7037705">
                  <a:moveTo>
                    <a:pt x="0" y="0"/>
                  </a:moveTo>
                  <a:lnTo>
                    <a:pt x="10654030" y="0"/>
                  </a:lnTo>
                  <a:lnTo>
                    <a:pt x="10654030" y="7037705"/>
                  </a:lnTo>
                  <a:lnTo>
                    <a:pt x="0" y="7037705"/>
                  </a:lnTo>
                  <a:lnTo>
                    <a:pt x="0" y="0"/>
                  </a:lnTo>
                  <a:close/>
                </a:path>
              </a:pathLst>
            </a:custGeom>
            <a:blipFill>
              <a:blip r:embed="rId8"/>
              <a:stretch>
                <a:fillRect l="-1971" t="-37312" r="-71269" b="-10209"/>
              </a:stretch>
            </a:blipFill>
          </p:spPr>
          <p:txBody>
            <a:bodyPr/>
            <a:lstStyle/>
            <a:p>
              <a:endParaRPr lang="en-US"/>
            </a:p>
          </p:txBody>
        </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a:off x="5240950" y="0"/>
            <a:ext cx="13047052" cy="739800"/>
            <a:chOff x="0" y="0"/>
            <a:chExt cx="17396069" cy="986400"/>
          </a:xfrm>
        </p:grpSpPr>
        <p:sp>
          <p:nvSpPr>
            <p:cNvPr id="5" name="Freeform 5"/>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4"/>
              <a:stretch>
                <a:fillRect t="-54253" b="-54252"/>
              </a:stretch>
            </a:blipFill>
          </p:spPr>
          <p:txBody>
            <a:bodyPr/>
            <a:lstStyle/>
            <a:p>
              <a:endParaRPr lang="en-US"/>
            </a:p>
          </p:txBody>
        </p:sp>
      </p:grpSp>
      <p:grpSp>
        <p:nvGrpSpPr>
          <p:cNvPr id="6" name="Group 6"/>
          <p:cNvGrpSpPr>
            <a:grpSpLocks noChangeAspect="1"/>
          </p:cNvGrpSpPr>
          <p:nvPr/>
        </p:nvGrpSpPr>
        <p:grpSpPr>
          <a:xfrm>
            <a:off x="14586824" y="300910"/>
            <a:ext cx="3170928" cy="138000"/>
            <a:chOff x="0" y="0"/>
            <a:chExt cx="4227904" cy="184000"/>
          </a:xfrm>
        </p:grpSpPr>
        <p:sp>
          <p:nvSpPr>
            <p:cNvPr id="7" name="Freeform 7"/>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5"/>
              <a:stretch>
                <a:fillRect l="-2" b="12"/>
              </a:stretch>
            </a:blipFill>
          </p:spPr>
          <p:txBody>
            <a:bodyPr/>
            <a:lstStyle/>
            <a:p>
              <a:endParaRPr lang="en-US"/>
            </a:p>
          </p:txBody>
        </p:sp>
      </p:grpSp>
      <p:grpSp>
        <p:nvGrpSpPr>
          <p:cNvPr id="8" name="Group 8"/>
          <p:cNvGrpSpPr>
            <a:grpSpLocks noChangeAspect="1"/>
          </p:cNvGrpSpPr>
          <p:nvPr/>
        </p:nvGrpSpPr>
        <p:grpSpPr>
          <a:xfrm>
            <a:off x="0" y="0"/>
            <a:ext cx="1945550" cy="1945550"/>
            <a:chOff x="0" y="0"/>
            <a:chExt cx="2594067" cy="2594067"/>
          </a:xfrm>
        </p:grpSpPr>
        <p:sp>
          <p:nvSpPr>
            <p:cNvPr id="9" name="Freeform 9"/>
            <p:cNvSpPr/>
            <p:nvPr/>
          </p:nvSpPr>
          <p:spPr>
            <a:xfrm flipH="1">
              <a:off x="0" y="0"/>
              <a:ext cx="2594102" cy="2594102"/>
            </a:xfrm>
            <a:custGeom>
              <a:avLst/>
              <a:gdLst/>
              <a:ahLst/>
              <a:cxnLst/>
              <a:rect l="l" t="t" r="r" b="b"/>
              <a:pathLst>
                <a:path w="2594102" h="2594102">
                  <a:moveTo>
                    <a:pt x="2594102" y="0"/>
                  </a:moveTo>
                  <a:lnTo>
                    <a:pt x="0" y="0"/>
                  </a:lnTo>
                  <a:lnTo>
                    <a:pt x="0" y="2594102"/>
                  </a:lnTo>
                  <a:lnTo>
                    <a:pt x="2594102" y="2594102"/>
                  </a:lnTo>
                  <a:lnTo>
                    <a:pt x="2594102" y="0"/>
                  </a:lnTo>
                  <a:close/>
                </a:path>
              </a:pathLst>
            </a:custGeom>
            <a:blipFill>
              <a:blip r:embed="rId6"/>
              <a:stretch>
                <a:fillRect r="1" b="1"/>
              </a:stretch>
            </a:blipFill>
          </p:spPr>
          <p:txBody>
            <a:bodyPr/>
            <a:lstStyle/>
            <a:p>
              <a:endParaRPr lang="en-US"/>
            </a:p>
          </p:txBody>
        </p:sp>
      </p:grpSp>
      <p:grpSp>
        <p:nvGrpSpPr>
          <p:cNvPr id="10" name="Group 10"/>
          <p:cNvGrpSpPr>
            <a:grpSpLocks noChangeAspect="1"/>
          </p:cNvGrpSpPr>
          <p:nvPr/>
        </p:nvGrpSpPr>
        <p:grpSpPr>
          <a:xfrm>
            <a:off x="16342450" y="8341474"/>
            <a:ext cx="1945550" cy="1945550"/>
            <a:chOff x="0" y="0"/>
            <a:chExt cx="2594067" cy="2594067"/>
          </a:xfrm>
        </p:grpSpPr>
        <p:sp>
          <p:nvSpPr>
            <p:cNvPr id="11" name="Freeform 11"/>
            <p:cNvSpPr/>
            <p:nvPr/>
          </p:nvSpPr>
          <p:spPr>
            <a:xfrm flipH="1">
              <a:off x="0" y="0"/>
              <a:ext cx="2594102" cy="2594102"/>
            </a:xfrm>
            <a:custGeom>
              <a:avLst/>
              <a:gdLst/>
              <a:ahLst/>
              <a:cxnLst/>
              <a:rect l="l" t="t" r="r" b="b"/>
              <a:pathLst>
                <a:path w="2594102" h="2594102">
                  <a:moveTo>
                    <a:pt x="2594102" y="0"/>
                  </a:moveTo>
                  <a:lnTo>
                    <a:pt x="0" y="0"/>
                  </a:lnTo>
                  <a:lnTo>
                    <a:pt x="0" y="2594102"/>
                  </a:lnTo>
                  <a:lnTo>
                    <a:pt x="2594102" y="2594102"/>
                  </a:lnTo>
                  <a:lnTo>
                    <a:pt x="2594102" y="0"/>
                  </a:lnTo>
                  <a:close/>
                </a:path>
              </a:pathLst>
            </a:custGeom>
            <a:blipFill>
              <a:blip r:embed="rId7"/>
              <a:stretch>
                <a:fillRect r="1" b="1"/>
              </a:stretch>
            </a:blipFill>
          </p:spPr>
          <p:txBody>
            <a:bodyPr/>
            <a:lstStyle/>
            <a:p>
              <a:endParaRPr lang="en-US"/>
            </a:p>
          </p:txBody>
        </p:sp>
      </p:grpSp>
      <p:sp>
        <p:nvSpPr>
          <p:cNvPr id="12" name="TextBox 12"/>
          <p:cNvSpPr txBox="1"/>
          <p:nvPr/>
        </p:nvSpPr>
        <p:spPr>
          <a:xfrm>
            <a:off x="1710719" y="1096214"/>
            <a:ext cx="15225150" cy="98107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Analysis Steps</a:t>
            </a:r>
          </a:p>
        </p:txBody>
      </p:sp>
      <p:sp>
        <p:nvSpPr>
          <p:cNvPr id="13" name="TextBox 13"/>
          <p:cNvSpPr txBox="1"/>
          <p:nvPr/>
        </p:nvSpPr>
        <p:spPr>
          <a:xfrm>
            <a:off x="2926015" y="2910524"/>
            <a:ext cx="12435870" cy="5114925"/>
          </a:xfrm>
          <a:prstGeom prst="rect">
            <a:avLst/>
          </a:prstGeom>
        </p:spPr>
        <p:txBody>
          <a:bodyPr lIns="0" tIns="0" rIns="0" bIns="0" rtlCol="0" anchor="t">
            <a:spAutoFit/>
          </a:bodyPr>
          <a:lstStyle/>
          <a:p>
            <a:pPr marL="1463040" lvl="1" indent="-731520" algn="just">
              <a:lnSpc>
                <a:spcPts val="5759"/>
              </a:lnSpc>
              <a:buFont typeface="Arial"/>
              <a:buChar char="•"/>
            </a:pPr>
            <a:r>
              <a:rPr lang="en-US" sz="4800" b="1">
                <a:solidFill>
                  <a:srgbClr val="202A41"/>
                </a:solidFill>
                <a:latin typeface="Poppins Bold"/>
                <a:ea typeface="Poppins Bold"/>
                <a:cs typeface="Poppins Bold"/>
                <a:sym typeface="Poppins Bold"/>
              </a:rPr>
              <a:t>Cleaning</a:t>
            </a:r>
          </a:p>
          <a:p>
            <a:pPr marL="1463040" lvl="1" indent="-731520" algn="just">
              <a:lnSpc>
                <a:spcPts val="5759"/>
              </a:lnSpc>
              <a:buFont typeface="Arial"/>
              <a:buChar char="•"/>
            </a:pPr>
            <a:r>
              <a:rPr lang="en-US" sz="4800" b="1">
                <a:solidFill>
                  <a:srgbClr val="202A41"/>
                </a:solidFill>
                <a:latin typeface="Poppins Bold"/>
                <a:ea typeface="Poppins Bold"/>
                <a:cs typeface="Poppins Bold"/>
                <a:sym typeface="Poppins Bold"/>
              </a:rPr>
              <a:t>Transformation</a:t>
            </a:r>
          </a:p>
          <a:p>
            <a:pPr marL="1463040" lvl="1" indent="-731520" algn="just">
              <a:lnSpc>
                <a:spcPts val="5759"/>
              </a:lnSpc>
              <a:buFont typeface="Arial"/>
              <a:buChar char="•"/>
            </a:pPr>
            <a:r>
              <a:rPr lang="en-US" sz="4800" b="1">
                <a:solidFill>
                  <a:srgbClr val="202A41"/>
                </a:solidFill>
                <a:latin typeface="Poppins Bold"/>
                <a:ea typeface="Poppins Bold"/>
                <a:cs typeface="Poppins Bold"/>
                <a:sym typeface="Poppins Bold"/>
              </a:rPr>
              <a:t>Modeling</a:t>
            </a:r>
          </a:p>
          <a:p>
            <a:pPr marL="1463040" lvl="1" indent="-731520" algn="just">
              <a:lnSpc>
                <a:spcPts val="5759"/>
              </a:lnSpc>
              <a:buFont typeface="Arial"/>
              <a:buChar char="•"/>
            </a:pPr>
            <a:r>
              <a:rPr lang="en-US" sz="4800" b="1">
                <a:solidFill>
                  <a:srgbClr val="202A41"/>
                </a:solidFill>
                <a:latin typeface="Poppins Bold"/>
                <a:ea typeface="Poppins Bold"/>
                <a:cs typeface="Poppins Bold"/>
                <a:sym typeface="Poppins Bold"/>
              </a:rPr>
              <a:t>Dax</a:t>
            </a:r>
          </a:p>
          <a:p>
            <a:pPr marL="1463040" lvl="1" indent="-731520" algn="just">
              <a:lnSpc>
                <a:spcPts val="5759"/>
              </a:lnSpc>
              <a:buFont typeface="Arial"/>
              <a:buChar char="•"/>
            </a:pPr>
            <a:r>
              <a:rPr lang="en-US" sz="4800" b="1">
                <a:solidFill>
                  <a:srgbClr val="202A41"/>
                </a:solidFill>
                <a:latin typeface="Poppins Bold"/>
                <a:ea typeface="Poppins Bold"/>
                <a:cs typeface="Poppins Bold"/>
                <a:sym typeface="Poppins Bold"/>
              </a:rPr>
              <a:t>Insights</a:t>
            </a:r>
          </a:p>
          <a:p>
            <a:pPr marL="1463040" lvl="1" indent="-731520" algn="just">
              <a:lnSpc>
                <a:spcPts val="5759"/>
              </a:lnSpc>
              <a:buFont typeface="Arial"/>
              <a:buChar char="•"/>
            </a:pPr>
            <a:r>
              <a:rPr lang="en-US" sz="4800" b="1">
                <a:solidFill>
                  <a:srgbClr val="202A41"/>
                </a:solidFill>
                <a:latin typeface="Poppins Bold"/>
                <a:ea typeface="Poppins Bold"/>
                <a:cs typeface="Poppins Bold"/>
                <a:sym typeface="Poppins Bold"/>
              </a:rPr>
              <a:t>Visuals</a:t>
            </a:r>
          </a:p>
          <a:p>
            <a:pPr marL="1463040" lvl="1" indent="-731520" algn="just">
              <a:lnSpc>
                <a:spcPts val="5759"/>
              </a:lnSpc>
              <a:buFont typeface="Arial"/>
              <a:buChar char="•"/>
            </a:pPr>
            <a:r>
              <a:rPr lang="en-US" sz="4800" b="1">
                <a:solidFill>
                  <a:srgbClr val="202A41"/>
                </a:solidFill>
                <a:latin typeface="Poppins Bold"/>
                <a:ea typeface="Poppins Bold"/>
                <a:cs typeface="Poppins Bold"/>
                <a:sym typeface="Poppins Bold"/>
              </a:rPr>
              <a:t>Dashboard &amp; Reports</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5400000">
            <a:off x="16342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grpSp>
        <p:nvGrpSpPr>
          <p:cNvPr id="6" name="Group 6"/>
          <p:cNvGrpSpPr>
            <a:grpSpLocks noChangeAspect="1"/>
          </p:cNvGrpSpPr>
          <p:nvPr/>
        </p:nvGrpSpPr>
        <p:grpSpPr>
          <a:xfrm>
            <a:off x="5240950" y="0"/>
            <a:ext cx="13047052" cy="739800"/>
            <a:chOff x="0" y="0"/>
            <a:chExt cx="17396069" cy="986400"/>
          </a:xfrm>
        </p:grpSpPr>
        <p:sp>
          <p:nvSpPr>
            <p:cNvPr id="7" name="Freeform 7"/>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5"/>
              <a:stretch>
                <a:fillRect t="-54253" b="-54252"/>
              </a:stretch>
            </a:blipFill>
          </p:spPr>
          <p:txBody>
            <a:bodyPr/>
            <a:lstStyle/>
            <a:p>
              <a:endParaRPr lang="en-US"/>
            </a:p>
          </p:txBody>
        </p:sp>
      </p:grpSp>
      <p:grpSp>
        <p:nvGrpSpPr>
          <p:cNvPr id="8" name="Group 8"/>
          <p:cNvGrpSpPr>
            <a:grpSpLocks noChangeAspect="1"/>
          </p:cNvGrpSpPr>
          <p:nvPr/>
        </p:nvGrpSpPr>
        <p:grpSpPr>
          <a:xfrm>
            <a:off x="14586824" y="300910"/>
            <a:ext cx="3170928" cy="138000"/>
            <a:chOff x="0" y="0"/>
            <a:chExt cx="4227904" cy="184000"/>
          </a:xfrm>
        </p:grpSpPr>
        <p:sp>
          <p:nvSpPr>
            <p:cNvPr id="9" name="Freeform 9"/>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6"/>
              <a:stretch>
                <a:fillRect l="-2" b="12"/>
              </a:stretch>
            </a:blipFill>
          </p:spPr>
          <p:txBody>
            <a:bodyPr/>
            <a:lstStyle/>
            <a:p>
              <a:endParaRPr lang="en-US"/>
            </a:p>
          </p:txBody>
        </p:sp>
      </p:grpSp>
      <p:sp>
        <p:nvSpPr>
          <p:cNvPr id="10" name="TextBox 10"/>
          <p:cNvSpPr txBox="1"/>
          <p:nvPr/>
        </p:nvSpPr>
        <p:spPr>
          <a:xfrm>
            <a:off x="3503660" y="2293480"/>
            <a:ext cx="10050573" cy="5046975"/>
          </a:xfrm>
          <a:prstGeom prst="rect">
            <a:avLst/>
          </a:prstGeom>
        </p:spPr>
        <p:txBody>
          <a:bodyPr lIns="0" tIns="0" rIns="0" bIns="0" rtlCol="0" anchor="t">
            <a:spAutoFit/>
          </a:bodyPr>
          <a:lstStyle/>
          <a:p>
            <a:pPr algn="l">
              <a:lnSpc>
                <a:spcPts val="19354"/>
              </a:lnSpc>
            </a:pPr>
            <a:r>
              <a:rPr lang="en-US" sz="16128" b="1">
                <a:solidFill>
                  <a:srgbClr val="202A41"/>
                </a:solidFill>
                <a:latin typeface="Poppins Bold"/>
                <a:ea typeface="Poppins Bold"/>
                <a:cs typeface="Poppins Bold"/>
                <a:sym typeface="Poppins Bold"/>
              </a:rPr>
              <a:t>Data Cleaning</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10800000">
            <a:off x="5240950" y="9546950"/>
            <a:ext cx="13047052" cy="739800"/>
            <a:chOff x="0" y="0"/>
            <a:chExt cx="17396069" cy="986400"/>
          </a:xfrm>
        </p:grpSpPr>
        <p:sp>
          <p:nvSpPr>
            <p:cNvPr id="5" name="Freeform 5"/>
            <p:cNvSpPr/>
            <p:nvPr/>
          </p:nvSpPr>
          <p:spPr>
            <a:xfrm>
              <a:off x="0" y="0"/>
              <a:ext cx="17396079" cy="986409"/>
            </a:xfrm>
            <a:custGeom>
              <a:avLst/>
              <a:gdLst/>
              <a:ahLst/>
              <a:cxnLst/>
              <a:rect l="l" t="t" r="r" b="b"/>
              <a:pathLst>
                <a:path w="17396079" h="986409">
                  <a:moveTo>
                    <a:pt x="0" y="0"/>
                  </a:moveTo>
                  <a:lnTo>
                    <a:pt x="17396079" y="0"/>
                  </a:lnTo>
                  <a:lnTo>
                    <a:pt x="17396079" y="986409"/>
                  </a:lnTo>
                  <a:lnTo>
                    <a:pt x="0" y="986409"/>
                  </a:lnTo>
                  <a:lnTo>
                    <a:pt x="0" y="0"/>
                  </a:lnTo>
                  <a:close/>
                </a:path>
              </a:pathLst>
            </a:custGeom>
            <a:blipFill>
              <a:blip r:embed="rId4"/>
              <a:stretch>
                <a:fillRect t="-54253" b="-54252"/>
              </a:stretch>
            </a:blipFill>
          </p:spPr>
          <p:txBody>
            <a:bodyPr/>
            <a:lstStyle/>
            <a:p>
              <a:endParaRPr lang="en-US"/>
            </a:p>
          </p:txBody>
        </p:sp>
      </p:grpSp>
      <p:grpSp>
        <p:nvGrpSpPr>
          <p:cNvPr id="6" name="Group 6"/>
          <p:cNvGrpSpPr>
            <a:grpSpLocks noChangeAspect="1"/>
          </p:cNvGrpSpPr>
          <p:nvPr/>
        </p:nvGrpSpPr>
        <p:grpSpPr>
          <a:xfrm rot="-10800000">
            <a:off x="14586824" y="9847840"/>
            <a:ext cx="3170928" cy="138000"/>
            <a:chOff x="0" y="0"/>
            <a:chExt cx="4227904" cy="184000"/>
          </a:xfrm>
        </p:grpSpPr>
        <p:sp>
          <p:nvSpPr>
            <p:cNvPr id="7" name="Freeform 7"/>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8" name="Group 8"/>
          <p:cNvGrpSpPr>
            <a:grpSpLocks noChangeAspect="1"/>
          </p:cNvGrpSpPr>
          <p:nvPr/>
        </p:nvGrpSpPr>
        <p:grpSpPr>
          <a:xfrm>
            <a:off x="0" y="8341474"/>
            <a:ext cx="1945550" cy="1945550"/>
            <a:chOff x="0" y="0"/>
            <a:chExt cx="2594067" cy="2594067"/>
          </a:xfrm>
        </p:grpSpPr>
        <p:sp>
          <p:nvSpPr>
            <p:cNvPr id="9" name="Freeform 9"/>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6"/>
              <a:stretch>
                <a:fillRect r="1" b="1"/>
              </a:stretch>
            </a:blipFill>
          </p:spPr>
          <p:txBody>
            <a:bodyPr/>
            <a:lstStyle/>
            <a:p>
              <a:endParaRPr lang="en-US"/>
            </a:p>
          </p:txBody>
        </p:sp>
      </p:grpSp>
      <p:grpSp>
        <p:nvGrpSpPr>
          <p:cNvPr id="10" name="Group 10"/>
          <p:cNvGrpSpPr/>
          <p:nvPr/>
        </p:nvGrpSpPr>
        <p:grpSpPr>
          <a:xfrm>
            <a:off x="4572000" y="621096"/>
            <a:ext cx="9144000" cy="1097280"/>
            <a:chOff x="0" y="0"/>
            <a:chExt cx="12192000" cy="1463040"/>
          </a:xfrm>
        </p:grpSpPr>
        <p:sp>
          <p:nvSpPr>
            <p:cNvPr id="11" name="Freeform 11"/>
            <p:cNvSpPr/>
            <p:nvPr/>
          </p:nvSpPr>
          <p:spPr>
            <a:xfrm>
              <a:off x="0" y="0"/>
              <a:ext cx="12192000" cy="1463040"/>
            </a:xfrm>
            <a:custGeom>
              <a:avLst/>
              <a:gdLst/>
              <a:ahLst/>
              <a:cxnLst/>
              <a:rect l="l" t="t" r="r" b="b"/>
              <a:pathLst>
                <a:path w="12192000" h="1463040">
                  <a:moveTo>
                    <a:pt x="0" y="0"/>
                  </a:moveTo>
                  <a:lnTo>
                    <a:pt x="12192000" y="0"/>
                  </a:lnTo>
                  <a:lnTo>
                    <a:pt x="12192000" y="1463040"/>
                  </a:lnTo>
                  <a:lnTo>
                    <a:pt x="0" y="1463040"/>
                  </a:lnTo>
                  <a:close/>
                </a:path>
              </a:pathLst>
            </a:custGeom>
            <a:solidFill>
              <a:srgbClr val="000000">
                <a:alpha val="0"/>
              </a:srgbClr>
            </a:solidFill>
          </p:spPr>
          <p:txBody>
            <a:bodyPr/>
            <a:lstStyle/>
            <a:p>
              <a:endParaRPr lang="en-US"/>
            </a:p>
          </p:txBody>
        </p:sp>
        <p:sp>
          <p:nvSpPr>
            <p:cNvPr id="12" name="TextBox 12"/>
            <p:cNvSpPr txBox="1"/>
            <p:nvPr/>
          </p:nvSpPr>
          <p:spPr>
            <a:xfrm>
              <a:off x="0" y="-38100"/>
              <a:ext cx="12192000" cy="1501140"/>
            </a:xfrm>
            <a:prstGeom prst="rect">
              <a:avLst/>
            </a:prstGeom>
          </p:spPr>
          <p:txBody>
            <a:bodyPr lIns="0" tIns="0" rIns="0" bIns="0" rtlCol="0" anchor="ctr"/>
            <a:lstStyle/>
            <a:p>
              <a:pPr algn="ctr">
                <a:lnSpc>
                  <a:spcPts val="4320"/>
                </a:lnSpc>
              </a:pPr>
              <a:r>
                <a:rPr lang="en-US" sz="3600" b="1">
                  <a:solidFill>
                    <a:srgbClr val="202A41"/>
                  </a:solidFill>
                  <a:latin typeface="Poppins Bold"/>
                  <a:ea typeface="Poppins Bold"/>
                  <a:cs typeface="Poppins Bold"/>
                  <a:sym typeface="Poppins Bold"/>
                </a:rPr>
                <a:t>Power Query Editor (Before Cleaning)</a:t>
              </a:r>
            </a:p>
          </p:txBody>
        </p:sp>
      </p:grpSp>
      <p:grpSp>
        <p:nvGrpSpPr>
          <p:cNvPr id="13" name="Group 13"/>
          <p:cNvGrpSpPr>
            <a:grpSpLocks noChangeAspect="1"/>
          </p:cNvGrpSpPr>
          <p:nvPr/>
        </p:nvGrpSpPr>
        <p:grpSpPr>
          <a:xfrm>
            <a:off x="2344098" y="1790700"/>
            <a:ext cx="13599802" cy="7245110"/>
            <a:chOff x="0" y="0"/>
            <a:chExt cx="18133069" cy="9660147"/>
          </a:xfrm>
        </p:grpSpPr>
        <p:sp>
          <p:nvSpPr>
            <p:cNvPr id="14" name="Freeform 14" descr="2025-10-01.png"/>
            <p:cNvSpPr/>
            <p:nvPr/>
          </p:nvSpPr>
          <p:spPr>
            <a:xfrm>
              <a:off x="0" y="0"/>
              <a:ext cx="18133061" cy="9660128"/>
            </a:xfrm>
            <a:custGeom>
              <a:avLst/>
              <a:gdLst/>
              <a:ahLst/>
              <a:cxnLst/>
              <a:rect l="l" t="t" r="r" b="b"/>
              <a:pathLst>
                <a:path w="18133061" h="9660128">
                  <a:moveTo>
                    <a:pt x="0" y="0"/>
                  </a:moveTo>
                  <a:lnTo>
                    <a:pt x="18133061" y="0"/>
                  </a:lnTo>
                  <a:lnTo>
                    <a:pt x="18133061" y="9660128"/>
                  </a:lnTo>
                  <a:lnTo>
                    <a:pt x="0" y="9660128"/>
                  </a:lnTo>
                  <a:lnTo>
                    <a:pt x="0" y="0"/>
                  </a:lnTo>
                  <a:close/>
                </a:path>
              </a:pathLst>
            </a:custGeom>
            <a:blipFill>
              <a:blip r:embed="rId7"/>
              <a:stretch>
                <a:fillRect b="-5535"/>
              </a:stretch>
            </a:blipFill>
          </p:spPr>
          <p:txBody>
            <a:bodyPr/>
            <a:lstStyle/>
            <a:p>
              <a:endParaRPr lang="en-US"/>
            </a:p>
          </p:txBody>
        </p: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240950" y="0"/>
            <a:ext cx="13047052" cy="739800"/>
            <a:chOff x="0" y="0"/>
            <a:chExt cx="17396069" cy="986400"/>
          </a:xfrm>
        </p:grpSpPr>
        <p:sp>
          <p:nvSpPr>
            <p:cNvPr id="3" name="Freeform 3"/>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2"/>
              <a:stretch>
                <a:fillRect t="-54253" b="-54252"/>
              </a:stretch>
            </a:blipFill>
          </p:spPr>
          <p:txBody>
            <a:bodyPr/>
            <a:lstStyle/>
            <a:p>
              <a:endParaRPr lang="en-US"/>
            </a:p>
          </p:txBody>
        </p:sp>
      </p:grpSp>
      <p:grpSp>
        <p:nvGrpSpPr>
          <p:cNvPr id="4" name="Group 4"/>
          <p:cNvGrpSpPr>
            <a:grpSpLocks noChangeAspect="1"/>
          </p:cNvGrpSpPr>
          <p:nvPr/>
        </p:nvGrpSpPr>
        <p:grpSpPr>
          <a:xfrm>
            <a:off x="14586824" y="300910"/>
            <a:ext cx="3170928" cy="138000"/>
            <a:chOff x="0" y="0"/>
            <a:chExt cx="4227904" cy="184000"/>
          </a:xfrm>
        </p:grpSpPr>
        <p:sp>
          <p:nvSpPr>
            <p:cNvPr id="5" name="Freeform 5"/>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3"/>
              <a:stretch>
                <a:fillRect l="-2" b="12"/>
              </a:stretch>
            </a:blipFill>
          </p:spPr>
          <p:txBody>
            <a:bodyPr/>
            <a:lstStyle/>
            <a:p>
              <a:endParaRPr lang="en-US"/>
            </a:p>
          </p:txBody>
        </p:sp>
      </p:grpSp>
      <p:sp>
        <p:nvSpPr>
          <p:cNvPr id="6" name="Freeform 6"/>
          <p:cNvSpPr/>
          <p:nvPr/>
        </p:nvSpPr>
        <p:spPr>
          <a:xfrm>
            <a:off x="5898990" y="4328039"/>
            <a:ext cx="7462588" cy="4903987"/>
          </a:xfrm>
          <a:custGeom>
            <a:avLst/>
            <a:gdLst/>
            <a:ahLst/>
            <a:cxnLst/>
            <a:rect l="l" t="t" r="r" b="b"/>
            <a:pathLst>
              <a:path w="7462588" h="4903987">
                <a:moveTo>
                  <a:pt x="0" y="0"/>
                </a:moveTo>
                <a:lnTo>
                  <a:pt x="7462588" y="0"/>
                </a:lnTo>
                <a:lnTo>
                  <a:pt x="7462588" y="4903987"/>
                </a:lnTo>
                <a:lnTo>
                  <a:pt x="0" y="4903987"/>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585086" y="1410821"/>
            <a:ext cx="10835513" cy="2122312"/>
          </a:xfrm>
          <a:prstGeom prst="rect">
            <a:avLst/>
          </a:prstGeom>
        </p:spPr>
        <p:txBody>
          <a:bodyPr wrap="square" lIns="0" tIns="0" rIns="0" bIns="0" rtlCol="0" anchor="t">
            <a:spAutoFit/>
          </a:bodyPr>
          <a:lstStyle/>
          <a:p>
            <a:pPr algn="l">
              <a:lnSpc>
                <a:spcPts val="5301"/>
              </a:lnSpc>
            </a:pPr>
            <a:r>
              <a:rPr lang="en-US" sz="4418" b="1" dirty="0">
                <a:solidFill>
                  <a:srgbClr val="B46542"/>
                </a:solidFill>
                <a:latin typeface="Poppins Bold"/>
                <a:ea typeface="Poppins Bold"/>
                <a:cs typeface="Poppins Bold"/>
                <a:sym typeface="Poppins Bold"/>
              </a:rPr>
              <a:t>Rail Card:</a:t>
            </a:r>
          </a:p>
          <a:p>
            <a:pPr marL="847895" lvl="1" indent="-423948" algn="l">
              <a:lnSpc>
                <a:spcPts val="5773"/>
              </a:lnSpc>
              <a:buFont typeface="Arial"/>
              <a:buChar char="•"/>
            </a:pPr>
            <a:r>
              <a:rPr lang="en-US" sz="3927" dirty="0">
                <a:solidFill>
                  <a:srgbClr val="202A41"/>
                </a:solidFill>
                <a:latin typeface="Poppins"/>
                <a:ea typeface="Poppins"/>
                <a:cs typeface="Poppins"/>
                <a:sym typeface="Poppins"/>
              </a:rPr>
              <a:t>Replace “</a:t>
            </a:r>
            <a:r>
              <a:rPr lang="en-US" sz="3927" b="1" dirty="0">
                <a:solidFill>
                  <a:srgbClr val="6D597A"/>
                </a:solidFill>
                <a:latin typeface="Poppins Bold"/>
                <a:ea typeface="Poppins Bold"/>
                <a:cs typeface="Poppins Bold"/>
                <a:sym typeface="Poppins Bold"/>
              </a:rPr>
              <a:t>None</a:t>
            </a:r>
            <a:r>
              <a:rPr lang="en-US" sz="3927" dirty="0">
                <a:solidFill>
                  <a:srgbClr val="202A41"/>
                </a:solidFill>
                <a:latin typeface="Poppins"/>
                <a:ea typeface="Poppins"/>
                <a:cs typeface="Poppins"/>
                <a:sym typeface="Poppins"/>
              </a:rPr>
              <a:t>” with “</a:t>
            </a:r>
            <a:r>
              <a:rPr lang="en-US" sz="3927" b="1" dirty="0">
                <a:solidFill>
                  <a:srgbClr val="6D597A"/>
                </a:solidFill>
                <a:latin typeface="Poppins Bold"/>
                <a:ea typeface="Poppins Bold"/>
                <a:cs typeface="Poppins Bold"/>
                <a:sym typeface="Poppins Bold"/>
              </a:rPr>
              <a:t>No Card</a:t>
            </a:r>
            <a:r>
              <a:rPr lang="en-US" sz="3927" dirty="0">
                <a:solidFill>
                  <a:srgbClr val="202A41"/>
                </a:solidFill>
                <a:latin typeface="Poppins"/>
                <a:ea typeface="Poppins"/>
                <a:cs typeface="Poppins"/>
                <a:sym typeface="Poppins"/>
              </a:rPr>
              <a:t>”.</a:t>
            </a:r>
          </a:p>
          <a:p>
            <a:pPr marL="847895" lvl="1" indent="-423948" algn="l">
              <a:lnSpc>
                <a:spcPts val="5773"/>
              </a:lnSpc>
              <a:buFont typeface="Arial"/>
              <a:buChar char="•"/>
            </a:pPr>
            <a:r>
              <a:rPr lang="en-US" sz="3927" dirty="0">
                <a:solidFill>
                  <a:srgbClr val="202A41"/>
                </a:solidFill>
                <a:latin typeface="Poppins"/>
                <a:ea typeface="Poppins"/>
                <a:cs typeface="Poppins"/>
                <a:sym typeface="Poppins"/>
              </a:rPr>
              <a:t>Replace </a:t>
            </a:r>
            <a:r>
              <a:rPr lang="en-US" sz="3927" b="1" dirty="0">
                <a:solidFill>
                  <a:srgbClr val="6D597A"/>
                </a:solidFill>
                <a:latin typeface="Poppins Bold"/>
                <a:ea typeface="Poppins Bold"/>
                <a:cs typeface="Poppins Bold"/>
                <a:sym typeface="Poppins Bold"/>
              </a:rPr>
              <a:t>blank</a:t>
            </a:r>
            <a:r>
              <a:rPr lang="en-US" sz="3927" dirty="0">
                <a:solidFill>
                  <a:srgbClr val="202A41"/>
                </a:solidFill>
                <a:latin typeface="Poppins"/>
                <a:ea typeface="Poppins"/>
                <a:cs typeface="Poppins"/>
                <a:sym typeface="Poppins"/>
              </a:rPr>
              <a:t> with “</a:t>
            </a:r>
            <a:r>
              <a:rPr lang="en-US" sz="3927" b="1" dirty="0">
                <a:solidFill>
                  <a:srgbClr val="6D597A"/>
                </a:solidFill>
                <a:latin typeface="Poppins Bold"/>
                <a:ea typeface="Poppins Bold"/>
                <a:cs typeface="Poppins Bold"/>
                <a:sym typeface="Poppins Bold"/>
              </a:rPr>
              <a:t>No Card</a:t>
            </a:r>
            <a:r>
              <a:rPr lang="en-US" sz="3927" dirty="0">
                <a:solidFill>
                  <a:srgbClr val="202A41"/>
                </a:solidFill>
                <a:latin typeface="Poppins"/>
                <a:ea typeface="Poppins"/>
                <a:cs typeface="Poppins"/>
                <a:sym typeface="Poppins"/>
              </a:rPr>
              <a:t>”..</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9347" y="4194823"/>
            <a:ext cx="5667383" cy="4905681"/>
          </a:xfrm>
          <a:custGeom>
            <a:avLst/>
            <a:gdLst/>
            <a:ahLst/>
            <a:cxnLst/>
            <a:rect l="l" t="t" r="r" b="b"/>
            <a:pathLst>
              <a:path w="5667383" h="4905681">
                <a:moveTo>
                  <a:pt x="0" y="0"/>
                </a:moveTo>
                <a:lnTo>
                  <a:pt x="5667383" y="0"/>
                </a:lnTo>
                <a:lnTo>
                  <a:pt x="5667383" y="4905681"/>
                </a:lnTo>
                <a:lnTo>
                  <a:pt x="0" y="4905681"/>
                </a:lnTo>
                <a:lnTo>
                  <a:pt x="0" y="0"/>
                </a:lnTo>
                <a:close/>
              </a:path>
            </a:pathLst>
          </a:custGeom>
          <a:blipFill>
            <a:blip r:embed="rId2"/>
            <a:stretch>
              <a:fillRect r="-37"/>
            </a:stretch>
          </a:blipFill>
        </p:spPr>
        <p:txBody>
          <a:bodyPr/>
          <a:lstStyle/>
          <a:p>
            <a:endParaRPr lang="en-US"/>
          </a:p>
        </p:txBody>
      </p:sp>
      <p:sp>
        <p:nvSpPr>
          <p:cNvPr id="3" name="Freeform 3"/>
          <p:cNvSpPr/>
          <p:nvPr/>
        </p:nvSpPr>
        <p:spPr>
          <a:xfrm>
            <a:off x="12072837" y="4194823"/>
            <a:ext cx="5186463" cy="4905681"/>
          </a:xfrm>
          <a:custGeom>
            <a:avLst/>
            <a:gdLst/>
            <a:ahLst/>
            <a:cxnLst/>
            <a:rect l="l" t="t" r="r" b="b"/>
            <a:pathLst>
              <a:path w="5186463" h="4905681">
                <a:moveTo>
                  <a:pt x="0" y="0"/>
                </a:moveTo>
                <a:lnTo>
                  <a:pt x="5186463" y="0"/>
                </a:lnTo>
                <a:lnTo>
                  <a:pt x="5186463" y="4905681"/>
                </a:lnTo>
                <a:lnTo>
                  <a:pt x="0" y="4905681"/>
                </a:lnTo>
                <a:lnTo>
                  <a:pt x="0" y="0"/>
                </a:lnTo>
                <a:close/>
              </a:path>
            </a:pathLst>
          </a:custGeom>
          <a:blipFill>
            <a:blip r:embed="rId3"/>
            <a:stretch>
              <a:fillRect l="-1343" r="-1343"/>
            </a:stretch>
          </a:blipFill>
        </p:spPr>
        <p:txBody>
          <a:bodyPr/>
          <a:lstStyle/>
          <a:p>
            <a:endParaRPr lang="en-US"/>
          </a:p>
        </p:txBody>
      </p:sp>
      <p:grpSp>
        <p:nvGrpSpPr>
          <p:cNvPr id="4" name="Group 4"/>
          <p:cNvGrpSpPr>
            <a:grpSpLocks noChangeAspect="1"/>
          </p:cNvGrpSpPr>
          <p:nvPr/>
        </p:nvGrpSpPr>
        <p:grpSpPr>
          <a:xfrm>
            <a:off x="5240950" y="0"/>
            <a:ext cx="13047052" cy="739800"/>
            <a:chOff x="0" y="0"/>
            <a:chExt cx="17396069" cy="986400"/>
          </a:xfrm>
        </p:grpSpPr>
        <p:sp>
          <p:nvSpPr>
            <p:cNvPr id="5" name="Freeform 5"/>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4"/>
              <a:stretch>
                <a:fillRect t="-54253" b="-54252"/>
              </a:stretch>
            </a:blipFill>
          </p:spPr>
          <p:txBody>
            <a:bodyPr/>
            <a:lstStyle/>
            <a:p>
              <a:endParaRPr lang="en-US"/>
            </a:p>
          </p:txBody>
        </p:sp>
      </p:grpSp>
      <p:grpSp>
        <p:nvGrpSpPr>
          <p:cNvPr id="6" name="Group 6"/>
          <p:cNvGrpSpPr>
            <a:grpSpLocks noChangeAspect="1"/>
          </p:cNvGrpSpPr>
          <p:nvPr/>
        </p:nvGrpSpPr>
        <p:grpSpPr>
          <a:xfrm>
            <a:off x="14586824" y="300910"/>
            <a:ext cx="3170928" cy="138000"/>
            <a:chOff x="0" y="0"/>
            <a:chExt cx="4227904" cy="184000"/>
          </a:xfrm>
        </p:grpSpPr>
        <p:sp>
          <p:nvSpPr>
            <p:cNvPr id="7" name="Freeform 7"/>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5"/>
              <a:stretch>
                <a:fillRect l="-2" b="12"/>
              </a:stretch>
            </a:blipFill>
          </p:spPr>
          <p:txBody>
            <a:bodyPr/>
            <a:lstStyle/>
            <a:p>
              <a:endParaRPr lang="en-US"/>
            </a:p>
          </p:txBody>
        </p:sp>
      </p:grpSp>
      <p:sp>
        <p:nvSpPr>
          <p:cNvPr id="8" name="Freeform 8"/>
          <p:cNvSpPr/>
          <p:nvPr/>
        </p:nvSpPr>
        <p:spPr>
          <a:xfrm>
            <a:off x="7414504" y="5337823"/>
            <a:ext cx="4410559" cy="1587801"/>
          </a:xfrm>
          <a:custGeom>
            <a:avLst/>
            <a:gdLst/>
            <a:ahLst/>
            <a:cxnLst/>
            <a:rect l="l" t="t" r="r" b="b"/>
            <a:pathLst>
              <a:path w="4410559" h="1587801">
                <a:moveTo>
                  <a:pt x="0" y="0"/>
                </a:moveTo>
                <a:lnTo>
                  <a:pt x="4410559" y="0"/>
                </a:lnTo>
                <a:lnTo>
                  <a:pt x="4410559" y="1587801"/>
                </a:lnTo>
                <a:lnTo>
                  <a:pt x="0" y="15878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1585087" y="1125071"/>
            <a:ext cx="9974461" cy="2297811"/>
          </a:xfrm>
          <a:prstGeom prst="rect">
            <a:avLst/>
          </a:prstGeom>
        </p:spPr>
        <p:txBody>
          <a:bodyPr lIns="0" tIns="0" rIns="0" bIns="0" rtlCol="0" anchor="t">
            <a:spAutoFit/>
          </a:bodyPr>
          <a:lstStyle/>
          <a:p>
            <a:pPr algn="l">
              <a:lnSpc>
                <a:spcPts val="4319"/>
              </a:lnSpc>
            </a:pPr>
            <a:r>
              <a:rPr lang="en-US" sz="3599" b="1">
                <a:solidFill>
                  <a:srgbClr val="B46542"/>
                </a:solidFill>
                <a:latin typeface="Poppins Bold"/>
                <a:ea typeface="Poppins Bold"/>
                <a:cs typeface="Poppins Bold"/>
                <a:sym typeface="Poppins Bold"/>
              </a:rPr>
              <a:t>Reason for Delay:</a:t>
            </a:r>
          </a:p>
          <a:p>
            <a:pPr marL="690876" lvl="1" indent="-345438" algn="l">
              <a:lnSpc>
                <a:spcPts val="4703"/>
              </a:lnSpc>
              <a:buFont typeface="Arial"/>
              <a:buChar char="•"/>
            </a:pPr>
            <a:r>
              <a:rPr lang="en-US" sz="3199">
                <a:solidFill>
                  <a:srgbClr val="202A41"/>
                </a:solidFill>
                <a:latin typeface="Poppins"/>
                <a:ea typeface="Poppins"/>
                <a:cs typeface="Poppins"/>
                <a:sym typeface="Poppins"/>
              </a:rPr>
              <a:t>Replace “Weather” with “Weather Conditions”.</a:t>
            </a:r>
          </a:p>
          <a:p>
            <a:pPr marL="690876" lvl="1" indent="-345438" algn="l">
              <a:lnSpc>
                <a:spcPts val="4703"/>
              </a:lnSpc>
              <a:buFont typeface="Arial"/>
              <a:buChar char="•"/>
            </a:pPr>
            <a:r>
              <a:rPr lang="en-US" sz="3199">
                <a:solidFill>
                  <a:srgbClr val="202A41"/>
                </a:solidFill>
                <a:latin typeface="Poppins"/>
                <a:ea typeface="Poppins"/>
                <a:cs typeface="Poppins"/>
                <a:sym typeface="Poppins"/>
              </a:rPr>
              <a:t>Replace “Staffing” with “Staffing shortage”.</a:t>
            </a:r>
          </a:p>
          <a:p>
            <a:pPr marL="690876" lvl="1" indent="-345438" algn="l">
              <a:lnSpc>
                <a:spcPts val="4703"/>
              </a:lnSpc>
              <a:buFont typeface="Arial"/>
              <a:buChar char="•"/>
            </a:pPr>
            <a:r>
              <a:rPr lang="en-US" sz="3199">
                <a:solidFill>
                  <a:srgbClr val="202A41"/>
                </a:solidFill>
                <a:latin typeface="Poppins"/>
                <a:ea typeface="Poppins"/>
                <a:cs typeface="Poppins"/>
                <a:sym typeface="Poppins"/>
              </a:rPr>
              <a:t>Replace “Signal failure”  with “Signal Failure”.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5400000">
            <a:off x="16342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grpSp>
        <p:nvGrpSpPr>
          <p:cNvPr id="6" name="Group 6"/>
          <p:cNvGrpSpPr>
            <a:grpSpLocks noChangeAspect="1"/>
          </p:cNvGrpSpPr>
          <p:nvPr/>
        </p:nvGrpSpPr>
        <p:grpSpPr>
          <a:xfrm>
            <a:off x="5240950" y="0"/>
            <a:ext cx="13047052" cy="739800"/>
            <a:chOff x="0" y="0"/>
            <a:chExt cx="17396069" cy="986400"/>
          </a:xfrm>
        </p:grpSpPr>
        <p:sp>
          <p:nvSpPr>
            <p:cNvPr id="7" name="Freeform 7"/>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5"/>
              <a:stretch>
                <a:fillRect t="-54253" b="-54252"/>
              </a:stretch>
            </a:blipFill>
          </p:spPr>
          <p:txBody>
            <a:bodyPr/>
            <a:lstStyle/>
            <a:p>
              <a:endParaRPr lang="en-US"/>
            </a:p>
          </p:txBody>
        </p:sp>
      </p:grpSp>
      <p:grpSp>
        <p:nvGrpSpPr>
          <p:cNvPr id="8" name="Group 8"/>
          <p:cNvGrpSpPr>
            <a:grpSpLocks noChangeAspect="1"/>
          </p:cNvGrpSpPr>
          <p:nvPr/>
        </p:nvGrpSpPr>
        <p:grpSpPr>
          <a:xfrm>
            <a:off x="14586824" y="300910"/>
            <a:ext cx="3170928" cy="138000"/>
            <a:chOff x="0" y="0"/>
            <a:chExt cx="4227904" cy="184000"/>
          </a:xfrm>
        </p:grpSpPr>
        <p:sp>
          <p:nvSpPr>
            <p:cNvPr id="9" name="Freeform 9"/>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6"/>
              <a:stretch>
                <a:fillRect l="-2" b="12"/>
              </a:stretch>
            </a:blipFill>
          </p:spPr>
          <p:txBody>
            <a:bodyPr/>
            <a:lstStyle/>
            <a:p>
              <a:endParaRPr lang="en-US"/>
            </a:p>
          </p:txBody>
        </p:sp>
      </p:grpSp>
      <p:sp>
        <p:nvSpPr>
          <p:cNvPr id="10" name="TextBox 10"/>
          <p:cNvSpPr txBox="1"/>
          <p:nvPr/>
        </p:nvSpPr>
        <p:spPr>
          <a:xfrm>
            <a:off x="2426003" y="3439281"/>
            <a:ext cx="13435993" cy="1858393"/>
          </a:xfrm>
          <a:prstGeom prst="rect">
            <a:avLst/>
          </a:prstGeom>
        </p:spPr>
        <p:txBody>
          <a:bodyPr lIns="0" tIns="0" rIns="0" bIns="0" rtlCol="0" anchor="t">
            <a:spAutoFit/>
          </a:bodyPr>
          <a:lstStyle/>
          <a:p>
            <a:pPr algn="l">
              <a:lnSpc>
                <a:spcPts val="13868"/>
              </a:lnSpc>
            </a:pPr>
            <a:r>
              <a:rPr lang="en-US" sz="11557" b="1">
                <a:solidFill>
                  <a:srgbClr val="202A41"/>
                </a:solidFill>
                <a:latin typeface="Poppins Bold"/>
                <a:ea typeface="Poppins Bold"/>
                <a:cs typeface="Poppins Bold"/>
                <a:sym typeface="Poppins Bold"/>
              </a:rPr>
              <a:t>Transformation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240950" y="0"/>
            <a:ext cx="13047052" cy="739800"/>
            <a:chOff x="0" y="0"/>
            <a:chExt cx="17396069" cy="986400"/>
          </a:xfrm>
        </p:grpSpPr>
        <p:sp>
          <p:nvSpPr>
            <p:cNvPr id="3" name="Freeform 3"/>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2"/>
              <a:stretch>
                <a:fillRect t="-54253" b="-54252"/>
              </a:stretch>
            </a:blipFill>
          </p:spPr>
          <p:txBody>
            <a:bodyPr/>
            <a:lstStyle/>
            <a:p>
              <a:endParaRPr lang="en-US"/>
            </a:p>
          </p:txBody>
        </p:sp>
      </p:grpSp>
      <p:grpSp>
        <p:nvGrpSpPr>
          <p:cNvPr id="4" name="Group 4"/>
          <p:cNvGrpSpPr>
            <a:grpSpLocks noChangeAspect="1"/>
          </p:cNvGrpSpPr>
          <p:nvPr/>
        </p:nvGrpSpPr>
        <p:grpSpPr>
          <a:xfrm>
            <a:off x="14586824" y="300910"/>
            <a:ext cx="3170928" cy="138000"/>
            <a:chOff x="0" y="0"/>
            <a:chExt cx="4227904" cy="184000"/>
          </a:xfrm>
        </p:grpSpPr>
        <p:sp>
          <p:nvSpPr>
            <p:cNvPr id="5" name="Freeform 5"/>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3"/>
              <a:stretch>
                <a:fillRect l="-2" b="12"/>
              </a:stretch>
            </a:blipFill>
          </p:spPr>
          <p:txBody>
            <a:bodyPr/>
            <a:lstStyle/>
            <a:p>
              <a:endParaRPr lang="en-US"/>
            </a:p>
          </p:txBody>
        </p:sp>
      </p:grpSp>
      <p:sp>
        <p:nvSpPr>
          <p:cNvPr id="6" name="Freeform 6"/>
          <p:cNvSpPr/>
          <p:nvPr/>
        </p:nvSpPr>
        <p:spPr>
          <a:xfrm>
            <a:off x="1650210" y="6317693"/>
            <a:ext cx="9130996" cy="2940607"/>
          </a:xfrm>
          <a:custGeom>
            <a:avLst/>
            <a:gdLst/>
            <a:ahLst/>
            <a:cxnLst/>
            <a:rect l="l" t="t" r="r" b="b"/>
            <a:pathLst>
              <a:path w="9130996" h="2940607">
                <a:moveTo>
                  <a:pt x="0" y="0"/>
                </a:moveTo>
                <a:lnTo>
                  <a:pt x="9130996" y="0"/>
                </a:lnTo>
                <a:lnTo>
                  <a:pt x="9130996" y="2940607"/>
                </a:lnTo>
                <a:lnTo>
                  <a:pt x="0" y="2940607"/>
                </a:lnTo>
                <a:lnTo>
                  <a:pt x="0" y="0"/>
                </a:lnTo>
                <a:close/>
              </a:path>
            </a:pathLst>
          </a:custGeom>
          <a:blipFill>
            <a:blip r:embed="rId4"/>
            <a:stretch>
              <a:fillRect t="-465" b="-465"/>
            </a:stretch>
          </a:blipFill>
        </p:spPr>
        <p:txBody>
          <a:bodyPr/>
          <a:lstStyle/>
          <a:p>
            <a:endParaRPr lang="en-US"/>
          </a:p>
        </p:txBody>
      </p:sp>
      <p:sp>
        <p:nvSpPr>
          <p:cNvPr id="7" name="Freeform 7"/>
          <p:cNvSpPr/>
          <p:nvPr/>
        </p:nvSpPr>
        <p:spPr>
          <a:xfrm>
            <a:off x="10790731" y="6317693"/>
            <a:ext cx="4315598" cy="2940607"/>
          </a:xfrm>
          <a:custGeom>
            <a:avLst/>
            <a:gdLst/>
            <a:ahLst/>
            <a:cxnLst/>
            <a:rect l="l" t="t" r="r" b="b"/>
            <a:pathLst>
              <a:path w="4315598" h="2940607">
                <a:moveTo>
                  <a:pt x="0" y="0"/>
                </a:moveTo>
                <a:lnTo>
                  <a:pt x="4315598" y="0"/>
                </a:lnTo>
                <a:lnTo>
                  <a:pt x="4315598" y="2940607"/>
                </a:lnTo>
                <a:lnTo>
                  <a:pt x="0" y="2940607"/>
                </a:lnTo>
                <a:lnTo>
                  <a:pt x="0" y="0"/>
                </a:lnTo>
                <a:close/>
              </a:path>
            </a:pathLst>
          </a:custGeom>
          <a:blipFill>
            <a:blip r:embed="rId5"/>
            <a:stretch>
              <a:fillRect l="-1416" r="-9868" b="-17229"/>
            </a:stretch>
          </a:blipFill>
        </p:spPr>
        <p:txBody>
          <a:bodyPr/>
          <a:lstStyle/>
          <a:p>
            <a:endParaRPr lang="en-US"/>
          </a:p>
        </p:txBody>
      </p:sp>
      <p:sp>
        <p:nvSpPr>
          <p:cNvPr id="8" name="TextBox 8"/>
          <p:cNvSpPr txBox="1"/>
          <p:nvPr/>
        </p:nvSpPr>
        <p:spPr>
          <a:xfrm>
            <a:off x="1028700" y="971550"/>
            <a:ext cx="6591300" cy="1656864"/>
          </a:xfrm>
          <a:prstGeom prst="rect">
            <a:avLst/>
          </a:prstGeom>
        </p:spPr>
        <p:txBody>
          <a:bodyPr wrap="square" lIns="0" tIns="0" rIns="0" bIns="0" rtlCol="0" anchor="t">
            <a:spAutoFit/>
          </a:bodyPr>
          <a:lstStyle/>
          <a:p>
            <a:pPr algn="l">
              <a:lnSpc>
                <a:spcPts val="7156"/>
              </a:lnSpc>
            </a:pPr>
            <a:r>
              <a:rPr lang="en-US" sz="5964" b="1" dirty="0">
                <a:solidFill>
                  <a:srgbClr val="B46542"/>
                </a:solidFill>
                <a:latin typeface="Poppins Bold"/>
                <a:ea typeface="Poppins Bold"/>
                <a:cs typeface="Poppins Bold"/>
                <a:sym typeface="Poppins Bold"/>
              </a:rPr>
              <a:t>Transformation</a:t>
            </a:r>
          </a:p>
          <a:p>
            <a:pPr algn="l">
              <a:lnSpc>
                <a:spcPts val="5395"/>
              </a:lnSpc>
            </a:pPr>
            <a:endParaRPr lang="en-US" sz="5964" b="1" dirty="0">
              <a:solidFill>
                <a:srgbClr val="B46542"/>
              </a:solidFill>
              <a:latin typeface="Poppins Bold"/>
              <a:ea typeface="Poppins Bold"/>
              <a:cs typeface="Poppins Bold"/>
              <a:sym typeface="Poppins Bold"/>
            </a:endParaRPr>
          </a:p>
        </p:txBody>
      </p:sp>
      <p:sp>
        <p:nvSpPr>
          <p:cNvPr id="9" name="TextBox 9"/>
          <p:cNvSpPr txBox="1"/>
          <p:nvPr/>
        </p:nvSpPr>
        <p:spPr>
          <a:xfrm>
            <a:off x="1205735" y="2891959"/>
            <a:ext cx="7039160" cy="1400175"/>
          </a:xfrm>
          <a:prstGeom prst="rect">
            <a:avLst/>
          </a:prstGeom>
        </p:spPr>
        <p:txBody>
          <a:bodyPr lIns="0" tIns="0" rIns="0" bIns="0" rtlCol="0" anchor="t">
            <a:spAutoFit/>
          </a:bodyPr>
          <a:lstStyle/>
          <a:p>
            <a:pPr marL="647702" lvl="1" indent="-323851" algn="l">
              <a:lnSpc>
                <a:spcPts val="3600"/>
              </a:lnSpc>
              <a:buFont typeface="Arial"/>
              <a:buChar char="•"/>
            </a:pPr>
            <a:r>
              <a:rPr lang="en-US" sz="3000">
                <a:solidFill>
                  <a:srgbClr val="000000"/>
                </a:solidFill>
                <a:latin typeface="Poppins"/>
                <a:ea typeface="Poppins"/>
                <a:cs typeface="Poppins"/>
                <a:sym typeface="Poppins"/>
              </a:rPr>
              <a:t>Calculate </a:t>
            </a:r>
            <a:r>
              <a:rPr lang="en-US" sz="3000">
                <a:solidFill>
                  <a:srgbClr val="B46542"/>
                </a:solidFill>
                <a:latin typeface="Poppins"/>
                <a:ea typeface="Poppins"/>
                <a:cs typeface="Poppins"/>
                <a:sym typeface="Poppins"/>
              </a:rPr>
              <a:t>Reservation period</a:t>
            </a:r>
            <a:r>
              <a:rPr lang="en-US" sz="3000">
                <a:solidFill>
                  <a:srgbClr val="000000"/>
                </a:solidFill>
                <a:latin typeface="Poppins"/>
                <a:ea typeface="Poppins"/>
                <a:cs typeface="Poppins"/>
                <a:sym typeface="Poppins"/>
              </a:rPr>
              <a:t> from </a:t>
            </a:r>
            <a:r>
              <a:rPr lang="en-US" sz="3000">
                <a:solidFill>
                  <a:srgbClr val="B46542"/>
                </a:solidFill>
                <a:latin typeface="Poppins"/>
                <a:ea typeface="Poppins"/>
                <a:cs typeface="Poppins"/>
                <a:sym typeface="Poppins"/>
              </a:rPr>
              <a:t>Date of Purchase</a:t>
            </a:r>
            <a:r>
              <a:rPr lang="en-US" sz="3000">
                <a:solidFill>
                  <a:srgbClr val="000000"/>
                </a:solidFill>
                <a:latin typeface="Poppins"/>
                <a:ea typeface="Poppins"/>
                <a:cs typeface="Poppins"/>
                <a:sym typeface="Poppins"/>
              </a:rPr>
              <a:t> and </a:t>
            </a:r>
            <a:r>
              <a:rPr lang="en-US" sz="3000">
                <a:solidFill>
                  <a:srgbClr val="B46542"/>
                </a:solidFill>
                <a:latin typeface="Poppins"/>
                <a:ea typeface="Poppins"/>
                <a:cs typeface="Poppins"/>
                <a:sym typeface="Poppins"/>
              </a:rPr>
              <a:t>Date of Journey.</a:t>
            </a:r>
          </a:p>
        </p:txBody>
      </p:sp>
      <p:sp>
        <p:nvSpPr>
          <p:cNvPr id="10" name="TextBox 10"/>
          <p:cNvSpPr txBox="1"/>
          <p:nvPr/>
        </p:nvSpPr>
        <p:spPr>
          <a:xfrm>
            <a:off x="8244896" y="2841077"/>
            <a:ext cx="7039160" cy="942975"/>
          </a:xfrm>
          <a:prstGeom prst="rect">
            <a:avLst/>
          </a:prstGeom>
        </p:spPr>
        <p:txBody>
          <a:bodyPr lIns="0" tIns="0" rIns="0" bIns="0" rtlCol="0" anchor="t">
            <a:spAutoFit/>
          </a:bodyPr>
          <a:lstStyle/>
          <a:p>
            <a:pPr marL="647702" lvl="1" indent="-323851" algn="l">
              <a:lnSpc>
                <a:spcPts val="3600"/>
              </a:lnSpc>
              <a:buFont typeface="Arial"/>
              <a:buChar char="•"/>
            </a:pPr>
            <a:r>
              <a:rPr lang="en-US" sz="3000">
                <a:solidFill>
                  <a:srgbClr val="000000"/>
                </a:solidFill>
                <a:latin typeface="Poppins"/>
                <a:ea typeface="Poppins"/>
                <a:cs typeface="Poppins"/>
                <a:sym typeface="Poppins"/>
              </a:rPr>
              <a:t>Calculate </a:t>
            </a:r>
            <a:r>
              <a:rPr lang="en-US" sz="3000">
                <a:solidFill>
                  <a:srgbClr val="B46542"/>
                </a:solidFill>
                <a:latin typeface="Poppins"/>
                <a:ea typeface="Poppins"/>
                <a:cs typeface="Poppins"/>
                <a:sym typeface="Poppins"/>
              </a:rPr>
              <a:t>Day of Journey</a:t>
            </a:r>
            <a:r>
              <a:rPr lang="en-US" sz="3000">
                <a:solidFill>
                  <a:srgbClr val="000000"/>
                </a:solidFill>
                <a:latin typeface="Poppins"/>
                <a:ea typeface="Poppins"/>
                <a:cs typeface="Poppins"/>
                <a:sym typeface="Poppins"/>
              </a:rPr>
              <a:t> from </a:t>
            </a:r>
            <a:r>
              <a:rPr lang="en-US" sz="3000">
                <a:solidFill>
                  <a:srgbClr val="B46542"/>
                </a:solidFill>
                <a:latin typeface="Poppins"/>
                <a:ea typeface="Poppins"/>
                <a:cs typeface="Poppins"/>
                <a:sym typeface="Poppins"/>
              </a:rPr>
              <a:t>Date of Journey.</a:t>
            </a:r>
          </a:p>
        </p:txBody>
      </p:sp>
      <p:sp>
        <p:nvSpPr>
          <p:cNvPr id="11" name="TextBox 11"/>
          <p:cNvSpPr txBox="1"/>
          <p:nvPr/>
        </p:nvSpPr>
        <p:spPr>
          <a:xfrm>
            <a:off x="1143000" y="4462463"/>
            <a:ext cx="9930278" cy="1000125"/>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Poppins"/>
                <a:ea typeface="Poppins"/>
                <a:cs typeface="Poppins"/>
                <a:sym typeface="Poppins"/>
              </a:rPr>
              <a:t>Calculate </a:t>
            </a:r>
            <a:r>
              <a:rPr lang="en-US" sz="3200">
                <a:solidFill>
                  <a:srgbClr val="B46542"/>
                </a:solidFill>
                <a:latin typeface="Poppins"/>
                <a:ea typeface="Poppins"/>
                <a:cs typeface="Poppins"/>
                <a:sym typeface="Poppins"/>
              </a:rPr>
              <a:t>Delay in Minutes</a:t>
            </a:r>
            <a:r>
              <a:rPr lang="en-US" sz="3200">
                <a:solidFill>
                  <a:srgbClr val="000000"/>
                </a:solidFill>
                <a:latin typeface="Poppins"/>
                <a:ea typeface="Poppins"/>
                <a:cs typeface="Poppins"/>
                <a:sym typeface="Poppins"/>
              </a:rPr>
              <a:t> from </a:t>
            </a:r>
            <a:r>
              <a:rPr lang="en-US" sz="3200">
                <a:solidFill>
                  <a:srgbClr val="B46542"/>
                </a:solidFill>
                <a:latin typeface="Poppins"/>
                <a:ea typeface="Poppins"/>
                <a:cs typeface="Poppins"/>
                <a:sym typeface="Poppins"/>
              </a:rPr>
              <a:t>Arrival Time </a:t>
            </a:r>
            <a:r>
              <a:rPr lang="en-US" sz="3200">
                <a:solidFill>
                  <a:srgbClr val="000000"/>
                </a:solidFill>
                <a:latin typeface="Poppins"/>
                <a:ea typeface="Poppins"/>
                <a:cs typeface="Poppins"/>
                <a:sym typeface="Poppins"/>
              </a:rPr>
              <a:t>and </a:t>
            </a:r>
            <a:r>
              <a:rPr lang="en-US" sz="3200">
                <a:solidFill>
                  <a:srgbClr val="B46542"/>
                </a:solidFill>
                <a:latin typeface="Poppins"/>
                <a:ea typeface="Poppins"/>
                <a:cs typeface="Poppins"/>
                <a:sym typeface="Poppins"/>
              </a:rPr>
              <a:t>Actual Arrival Time.</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10800000">
            <a:off x="5240950" y="9546950"/>
            <a:ext cx="13047052" cy="739800"/>
            <a:chOff x="0" y="0"/>
            <a:chExt cx="17396069" cy="986400"/>
          </a:xfrm>
        </p:grpSpPr>
        <p:sp>
          <p:nvSpPr>
            <p:cNvPr id="5" name="Freeform 5"/>
            <p:cNvSpPr/>
            <p:nvPr/>
          </p:nvSpPr>
          <p:spPr>
            <a:xfrm>
              <a:off x="0" y="0"/>
              <a:ext cx="17396079" cy="986409"/>
            </a:xfrm>
            <a:custGeom>
              <a:avLst/>
              <a:gdLst/>
              <a:ahLst/>
              <a:cxnLst/>
              <a:rect l="l" t="t" r="r" b="b"/>
              <a:pathLst>
                <a:path w="17396079" h="986409">
                  <a:moveTo>
                    <a:pt x="0" y="0"/>
                  </a:moveTo>
                  <a:lnTo>
                    <a:pt x="17396079" y="0"/>
                  </a:lnTo>
                  <a:lnTo>
                    <a:pt x="17396079" y="986409"/>
                  </a:lnTo>
                  <a:lnTo>
                    <a:pt x="0" y="986409"/>
                  </a:lnTo>
                  <a:lnTo>
                    <a:pt x="0" y="0"/>
                  </a:lnTo>
                  <a:close/>
                </a:path>
              </a:pathLst>
            </a:custGeom>
            <a:blipFill>
              <a:blip r:embed="rId4"/>
              <a:stretch>
                <a:fillRect t="-54253" b="-54252"/>
              </a:stretch>
            </a:blipFill>
          </p:spPr>
          <p:txBody>
            <a:bodyPr/>
            <a:lstStyle/>
            <a:p>
              <a:endParaRPr lang="en-US"/>
            </a:p>
          </p:txBody>
        </p:sp>
      </p:grpSp>
      <p:grpSp>
        <p:nvGrpSpPr>
          <p:cNvPr id="6" name="Group 6"/>
          <p:cNvGrpSpPr>
            <a:grpSpLocks noChangeAspect="1"/>
          </p:cNvGrpSpPr>
          <p:nvPr/>
        </p:nvGrpSpPr>
        <p:grpSpPr>
          <a:xfrm rot="-10800000">
            <a:off x="14586824" y="9847840"/>
            <a:ext cx="3170928" cy="138000"/>
            <a:chOff x="0" y="0"/>
            <a:chExt cx="4227904" cy="184000"/>
          </a:xfrm>
        </p:grpSpPr>
        <p:sp>
          <p:nvSpPr>
            <p:cNvPr id="7" name="Freeform 7"/>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8" name="Group 8"/>
          <p:cNvGrpSpPr>
            <a:grpSpLocks noChangeAspect="1"/>
          </p:cNvGrpSpPr>
          <p:nvPr/>
        </p:nvGrpSpPr>
        <p:grpSpPr>
          <a:xfrm>
            <a:off x="0" y="8341474"/>
            <a:ext cx="1945550" cy="1945550"/>
            <a:chOff x="0" y="0"/>
            <a:chExt cx="2594067" cy="2594067"/>
          </a:xfrm>
        </p:grpSpPr>
        <p:sp>
          <p:nvSpPr>
            <p:cNvPr id="9" name="Freeform 9"/>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6"/>
              <a:stretch>
                <a:fillRect r="1" b="1"/>
              </a:stretch>
            </a:blipFill>
          </p:spPr>
          <p:txBody>
            <a:bodyPr/>
            <a:lstStyle/>
            <a:p>
              <a:endParaRPr lang="en-US"/>
            </a:p>
          </p:txBody>
        </p:sp>
      </p:grpSp>
      <p:sp>
        <p:nvSpPr>
          <p:cNvPr id="10" name="TextBox 10"/>
          <p:cNvSpPr txBox="1"/>
          <p:nvPr/>
        </p:nvSpPr>
        <p:spPr>
          <a:xfrm>
            <a:off x="1531425" y="29870"/>
            <a:ext cx="15225150" cy="102922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Data Cleaning</a:t>
            </a:r>
          </a:p>
        </p:txBody>
      </p:sp>
      <p:grpSp>
        <p:nvGrpSpPr>
          <p:cNvPr id="11" name="Group 11"/>
          <p:cNvGrpSpPr/>
          <p:nvPr/>
        </p:nvGrpSpPr>
        <p:grpSpPr>
          <a:xfrm>
            <a:off x="4572000" y="1002096"/>
            <a:ext cx="9144000" cy="1097280"/>
            <a:chOff x="0" y="0"/>
            <a:chExt cx="12192000" cy="1463040"/>
          </a:xfrm>
        </p:grpSpPr>
        <p:sp>
          <p:nvSpPr>
            <p:cNvPr id="12" name="Freeform 12"/>
            <p:cNvSpPr/>
            <p:nvPr/>
          </p:nvSpPr>
          <p:spPr>
            <a:xfrm>
              <a:off x="0" y="0"/>
              <a:ext cx="12192000" cy="1463040"/>
            </a:xfrm>
            <a:custGeom>
              <a:avLst/>
              <a:gdLst/>
              <a:ahLst/>
              <a:cxnLst/>
              <a:rect l="l" t="t" r="r" b="b"/>
              <a:pathLst>
                <a:path w="12192000" h="1463040">
                  <a:moveTo>
                    <a:pt x="0" y="0"/>
                  </a:moveTo>
                  <a:lnTo>
                    <a:pt x="12192000" y="0"/>
                  </a:lnTo>
                  <a:lnTo>
                    <a:pt x="12192000" y="1463040"/>
                  </a:lnTo>
                  <a:lnTo>
                    <a:pt x="0" y="1463040"/>
                  </a:lnTo>
                  <a:close/>
                </a:path>
              </a:pathLst>
            </a:custGeom>
            <a:solidFill>
              <a:srgbClr val="000000">
                <a:alpha val="0"/>
              </a:srgbClr>
            </a:solidFill>
          </p:spPr>
          <p:txBody>
            <a:bodyPr/>
            <a:lstStyle/>
            <a:p>
              <a:endParaRPr lang="en-US"/>
            </a:p>
          </p:txBody>
        </p:sp>
        <p:sp>
          <p:nvSpPr>
            <p:cNvPr id="13" name="TextBox 13"/>
            <p:cNvSpPr txBox="1"/>
            <p:nvPr/>
          </p:nvSpPr>
          <p:spPr>
            <a:xfrm>
              <a:off x="0" y="-38100"/>
              <a:ext cx="12192000" cy="1501140"/>
            </a:xfrm>
            <a:prstGeom prst="rect">
              <a:avLst/>
            </a:prstGeom>
          </p:spPr>
          <p:txBody>
            <a:bodyPr lIns="0" tIns="0" rIns="0" bIns="0" rtlCol="0" anchor="ctr"/>
            <a:lstStyle/>
            <a:p>
              <a:pPr algn="ctr">
                <a:lnSpc>
                  <a:spcPts val="4320"/>
                </a:lnSpc>
              </a:pPr>
              <a:r>
                <a:rPr lang="en-US" sz="3600" b="1">
                  <a:solidFill>
                    <a:srgbClr val="202A41"/>
                  </a:solidFill>
                  <a:latin typeface="Poppins Bold"/>
                  <a:ea typeface="Poppins Bold"/>
                  <a:cs typeface="Poppins Bold"/>
                  <a:sym typeface="Poppins Bold"/>
                </a:rPr>
                <a:t>Power Query Editor (After Cleaning)</a:t>
              </a:r>
            </a:p>
          </p:txBody>
        </p:sp>
      </p:grpSp>
      <p:grpSp>
        <p:nvGrpSpPr>
          <p:cNvPr id="14" name="Group 14"/>
          <p:cNvGrpSpPr>
            <a:grpSpLocks noChangeAspect="1"/>
          </p:cNvGrpSpPr>
          <p:nvPr/>
        </p:nvGrpSpPr>
        <p:grpSpPr>
          <a:xfrm>
            <a:off x="2344098" y="2098068"/>
            <a:ext cx="13599802" cy="7243726"/>
            <a:chOff x="0" y="0"/>
            <a:chExt cx="18133069" cy="9658301"/>
          </a:xfrm>
        </p:grpSpPr>
        <p:sp>
          <p:nvSpPr>
            <p:cNvPr id="15" name="Freeform 15" descr="2025-10-01 (2).png"/>
            <p:cNvSpPr/>
            <p:nvPr/>
          </p:nvSpPr>
          <p:spPr>
            <a:xfrm>
              <a:off x="0" y="0"/>
              <a:ext cx="18133061" cy="9658350"/>
            </a:xfrm>
            <a:custGeom>
              <a:avLst/>
              <a:gdLst/>
              <a:ahLst/>
              <a:cxnLst/>
              <a:rect l="l" t="t" r="r" b="b"/>
              <a:pathLst>
                <a:path w="18133061" h="9658350">
                  <a:moveTo>
                    <a:pt x="0" y="0"/>
                  </a:moveTo>
                  <a:lnTo>
                    <a:pt x="18133061" y="0"/>
                  </a:lnTo>
                  <a:lnTo>
                    <a:pt x="18133061" y="9658350"/>
                  </a:lnTo>
                  <a:lnTo>
                    <a:pt x="0" y="9658350"/>
                  </a:lnTo>
                  <a:lnTo>
                    <a:pt x="0" y="0"/>
                  </a:lnTo>
                  <a:close/>
                </a:path>
              </a:pathLst>
            </a:custGeom>
            <a:blipFill>
              <a:blip r:embed="rId7"/>
              <a:stretch>
                <a:fillRect b="-5555"/>
              </a:stretch>
            </a:blipFill>
          </p:spPr>
          <p:txBody>
            <a:bodyP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5400000">
            <a:off x="16342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grpSp>
        <p:nvGrpSpPr>
          <p:cNvPr id="6" name="Group 6"/>
          <p:cNvGrpSpPr>
            <a:grpSpLocks noChangeAspect="1"/>
          </p:cNvGrpSpPr>
          <p:nvPr/>
        </p:nvGrpSpPr>
        <p:grpSpPr>
          <a:xfrm>
            <a:off x="5240950" y="0"/>
            <a:ext cx="13047052" cy="739800"/>
            <a:chOff x="0" y="0"/>
            <a:chExt cx="17396069" cy="986400"/>
          </a:xfrm>
        </p:grpSpPr>
        <p:sp>
          <p:nvSpPr>
            <p:cNvPr id="7" name="Freeform 7"/>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5"/>
              <a:stretch>
                <a:fillRect t="-54253" b="-54252"/>
              </a:stretch>
            </a:blipFill>
          </p:spPr>
          <p:txBody>
            <a:bodyPr/>
            <a:lstStyle/>
            <a:p>
              <a:endParaRPr lang="en-US"/>
            </a:p>
          </p:txBody>
        </p:sp>
      </p:grpSp>
      <p:grpSp>
        <p:nvGrpSpPr>
          <p:cNvPr id="8" name="Group 8"/>
          <p:cNvGrpSpPr>
            <a:grpSpLocks noChangeAspect="1"/>
          </p:cNvGrpSpPr>
          <p:nvPr/>
        </p:nvGrpSpPr>
        <p:grpSpPr>
          <a:xfrm>
            <a:off x="14586824" y="300910"/>
            <a:ext cx="3170928" cy="138000"/>
            <a:chOff x="0" y="0"/>
            <a:chExt cx="4227904" cy="184000"/>
          </a:xfrm>
        </p:grpSpPr>
        <p:sp>
          <p:nvSpPr>
            <p:cNvPr id="9" name="Freeform 9"/>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6"/>
              <a:stretch>
                <a:fillRect l="-2" b="12"/>
              </a:stretch>
            </a:blipFill>
          </p:spPr>
          <p:txBody>
            <a:bodyPr/>
            <a:lstStyle/>
            <a:p>
              <a:endParaRPr lang="en-US"/>
            </a:p>
          </p:txBody>
        </p:sp>
      </p:grpSp>
      <p:sp>
        <p:nvSpPr>
          <p:cNvPr id="10" name="TextBox 10"/>
          <p:cNvSpPr txBox="1"/>
          <p:nvPr/>
        </p:nvSpPr>
        <p:spPr>
          <a:xfrm>
            <a:off x="3503660" y="2293480"/>
            <a:ext cx="10050573" cy="5046975"/>
          </a:xfrm>
          <a:prstGeom prst="rect">
            <a:avLst/>
          </a:prstGeom>
        </p:spPr>
        <p:txBody>
          <a:bodyPr lIns="0" tIns="0" rIns="0" bIns="0" rtlCol="0" anchor="t">
            <a:spAutoFit/>
          </a:bodyPr>
          <a:lstStyle/>
          <a:p>
            <a:pPr algn="l">
              <a:lnSpc>
                <a:spcPts val="19354"/>
              </a:lnSpc>
            </a:pPr>
            <a:r>
              <a:rPr lang="en-US" sz="16128" b="1">
                <a:solidFill>
                  <a:srgbClr val="202A41"/>
                </a:solidFill>
                <a:latin typeface="Poppins Bold"/>
                <a:ea typeface="Poppins Bold"/>
                <a:cs typeface="Poppins Bold"/>
                <a:sym typeface="Poppins Bold"/>
              </a:rPr>
              <a:t>Data Modeling</a:t>
            </a:r>
          </a:p>
        </p:txBody>
      </p:sp>
      <p:grpSp>
        <p:nvGrpSpPr>
          <p:cNvPr id="11" name="Group 11"/>
          <p:cNvGrpSpPr>
            <a:grpSpLocks noChangeAspect="1"/>
          </p:cNvGrpSpPr>
          <p:nvPr/>
        </p:nvGrpSpPr>
        <p:grpSpPr>
          <a:xfrm>
            <a:off x="1028700" y="7921354"/>
            <a:ext cx="18288000" cy="10287000"/>
            <a:chOff x="0" y="0"/>
            <a:chExt cx="24384000" cy="13716000"/>
          </a:xfrm>
        </p:grpSpPr>
        <p:sp>
          <p:nvSpPr>
            <p:cNvPr id="12" name="Freeform 12"/>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13" name="Group 13"/>
          <p:cNvGrpSpPr>
            <a:grpSpLocks noChangeAspect="1"/>
          </p:cNvGrpSpPr>
          <p:nvPr/>
        </p:nvGrpSpPr>
        <p:grpSpPr>
          <a:xfrm rot="5400000">
            <a:off x="16494800" y="8493850"/>
            <a:ext cx="1945550" cy="1945550"/>
            <a:chOff x="0" y="0"/>
            <a:chExt cx="2594067" cy="2594067"/>
          </a:xfrm>
        </p:grpSpPr>
        <p:sp>
          <p:nvSpPr>
            <p:cNvPr id="14" name="Freeform 14"/>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rot="-10800000">
            <a:off x="16398548" y="22750"/>
            <a:ext cx="2346652" cy="2140198"/>
            <a:chOff x="0" y="0"/>
            <a:chExt cx="3128869" cy="2853597"/>
          </a:xfrm>
        </p:grpSpPr>
        <p:sp>
          <p:nvSpPr>
            <p:cNvPr id="3" name="Freeform 3"/>
            <p:cNvSpPr/>
            <p:nvPr/>
          </p:nvSpPr>
          <p:spPr>
            <a:xfrm flipH="1">
              <a:off x="0" y="0"/>
              <a:ext cx="3128899" cy="2853563"/>
            </a:xfrm>
            <a:custGeom>
              <a:avLst/>
              <a:gdLst/>
              <a:ahLst/>
              <a:cxnLst/>
              <a:rect l="l" t="t" r="r" b="b"/>
              <a:pathLst>
                <a:path w="3128899" h="2853563">
                  <a:moveTo>
                    <a:pt x="3128899" y="0"/>
                  </a:moveTo>
                  <a:lnTo>
                    <a:pt x="0" y="0"/>
                  </a:lnTo>
                  <a:lnTo>
                    <a:pt x="0" y="2853563"/>
                  </a:lnTo>
                  <a:lnTo>
                    <a:pt x="3128899" y="2853563"/>
                  </a:lnTo>
                  <a:lnTo>
                    <a:pt x="3128899" y="0"/>
                  </a:lnTo>
                  <a:close/>
                </a:path>
              </a:pathLst>
            </a:custGeom>
            <a:blipFill>
              <a:blip r:embed="rId3"/>
              <a:stretch>
                <a:fillRect l="-46309" t="-159" r="-2" b="-22391"/>
              </a:stretch>
            </a:blipFill>
          </p:spPr>
          <p:txBody>
            <a:bodyPr/>
            <a:lstStyle/>
            <a:p>
              <a:endParaRPr lang="en-US"/>
            </a:p>
          </p:txBody>
        </p:sp>
      </p:grpSp>
      <p:grpSp>
        <p:nvGrpSpPr>
          <p:cNvPr id="4" name="Group 4"/>
          <p:cNvGrpSpPr>
            <a:grpSpLocks noChangeAspect="1"/>
          </p:cNvGrpSpPr>
          <p:nvPr/>
        </p:nvGrpSpPr>
        <p:grpSpPr>
          <a:xfrm rot="-10800000">
            <a:off x="-25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sp>
        <p:nvSpPr>
          <p:cNvPr id="6" name="Freeform 6"/>
          <p:cNvSpPr/>
          <p:nvPr/>
        </p:nvSpPr>
        <p:spPr>
          <a:xfrm>
            <a:off x="2607062" y="2162948"/>
            <a:ext cx="12531856" cy="7282460"/>
          </a:xfrm>
          <a:custGeom>
            <a:avLst/>
            <a:gdLst/>
            <a:ahLst/>
            <a:cxnLst/>
            <a:rect l="l" t="t" r="r" b="b"/>
            <a:pathLst>
              <a:path w="12531856" h="7282460">
                <a:moveTo>
                  <a:pt x="0" y="0"/>
                </a:moveTo>
                <a:lnTo>
                  <a:pt x="12531856" y="0"/>
                </a:lnTo>
                <a:lnTo>
                  <a:pt x="12531856" y="7282460"/>
                </a:lnTo>
                <a:lnTo>
                  <a:pt x="0" y="7282460"/>
                </a:lnTo>
                <a:lnTo>
                  <a:pt x="0" y="0"/>
                </a:lnTo>
                <a:close/>
              </a:path>
            </a:pathLst>
          </a:custGeom>
          <a:blipFill>
            <a:blip r:embed="rId5"/>
            <a:stretch>
              <a:fillRect t="-11" b="-11"/>
            </a:stretch>
          </a:blipFill>
        </p:spPr>
        <p:txBody>
          <a:bodyPr/>
          <a:lstStyle/>
          <a:p>
            <a:endParaRPr lang="en-US"/>
          </a:p>
        </p:txBody>
      </p:sp>
      <p:sp>
        <p:nvSpPr>
          <p:cNvPr id="7" name="TextBox 7"/>
          <p:cNvSpPr txBox="1"/>
          <p:nvPr/>
        </p:nvSpPr>
        <p:spPr>
          <a:xfrm>
            <a:off x="1531425" y="1103750"/>
            <a:ext cx="15225150" cy="102922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Data Modeling</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240948" y="0"/>
            <a:ext cx="13047052" cy="739800"/>
            <a:chOff x="0" y="0"/>
            <a:chExt cx="17396069" cy="986400"/>
          </a:xfrm>
        </p:grpSpPr>
        <p:sp>
          <p:nvSpPr>
            <p:cNvPr id="3" name="Freeform 3"/>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2"/>
              <a:stretch>
                <a:fillRect t="-54253" b="-54252"/>
              </a:stretch>
            </a:blipFill>
          </p:spPr>
          <p:txBody>
            <a:bodyPr/>
            <a:lstStyle/>
            <a:p>
              <a:endParaRPr lang="en-US"/>
            </a:p>
          </p:txBody>
        </p:sp>
      </p:grpSp>
      <p:grpSp>
        <p:nvGrpSpPr>
          <p:cNvPr id="4" name="Group 4"/>
          <p:cNvGrpSpPr>
            <a:grpSpLocks noChangeAspect="1"/>
          </p:cNvGrpSpPr>
          <p:nvPr/>
        </p:nvGrpSpPr>
        <p:grpSpPr>
          <a:xfrm rot="5400000">
            <a:off x="16342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3"/>
              <a:stretch>
                <a:fillRect r="1" b="1"/>
              </a:stretch>
            </a:blipFill>
          </p:spPr>
          <p:txBody>
            <a:bodyPr/>
            <a:lstStyle/>
            <a:p>
              <a:endParaRPr lang="en-US"/>
            </a:p>
          </p:txBody>
        </p:sp>
      </p:grpSp>
      <p:grpSp>
        <p:nvGrpSpPr>
          <p:cNvPr id="6" name="Group 6"/>
          <p:cNvGrpSpPr>
            <a:grpSpLocks noChangeAspect="1"/>
          </p:cNvGrpSpPr>
          <p:nvPr/>
        </p:nvGrpSpPr>
        <p:grpSpPr>
          <a:xfrm rot="5400000">
            <a:off x="16494800" y="8493850"/>
            <a:ext cx="1945550" cy="1945550"/>
            <a:chOff x="0" y="0"/>
            <a:chExt cx="2594067" cy="2594067"/>
          </a:xfrm>
        </p:grpSpPr>
        <p:sp>
          <p:nvSpPr>
            <p:cNvPr id="7" name="Freeform 7"/>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3"/>
              <a:stretch>
                <a:fillRect r="1" b="1"/>
              </a:stretch>
            </a:blipFill>
          </p:spPr>
          <p:txBody>
            <a:bodyPr/>
            <a:lstStyle/>
            <a:p>
              <a:endParaRPr lang="en-US"/>
            </a:p>
          </p:txBody>
        </p:sp>
      </p:grpSp>
      <p:grpSp>
        <p:nvGrpSpPr>
          <p:cNvPr id="8" name="Group 8"/>
          <p:cNvGrpSpPr>
            <a:grpSpLocks noChangeAspect="1"/>
          </p:cNvGrpSpPr>
          <p:nvPr/>
        </p:nvGrpSpPr>
        <p:grpSpPr>
          <a:xfrm>
            <a:off x="14586824" y="300910"/>
            <a:ext cx="3170928" cy="138000"/>
            <a:chOff x="0" y="0"/>
            <a:chExt cx="4227904" cy="184000"/>
          </a:xfrm>
        </p:grpSpPr>
        <p:sp>
          <p:nvSpPr>
            <p:cNvPr id="9" name="Freeform 9"/>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4"/>
              <a:stretch>
                <a:fillRect l="-2" b="12"/>
              </a:stretch>
            </a:blipFill>
          </p:spPr>
          <p:txBody>
            <a:bodyPr/>
            <a:lstStyle/>
            <a:p>
              <a:endParaRPr lang="en-US"/>
            </a:p>
          </p:txBody>
        </p:sp>
      </p:grpSp>
      <p:sp>
        <p:nvSpPr>
          <p:cNvPr id="10" name="TextBox 10"/>
          <p:cNvSpPr txBox="1"/>
          <p:nvPr/>
        </p:nvSpPr>
        <p:spPr>
          <a:xfrm>
            <a:off x="4118714" y="3767456"/>
            <a:ext cx="10050573" cy="2609850"/>
          </a:xfrm>
          <a:prstGeom prst="rect">
            <a:avLst/>
          </a:prstGeom>
        </p:spPr>
        <p:txBody>
          <a:bodyPr lIns="0" tIns="0" rIns="0" bIns="0" rtlCol="0" anchor="t">
            <a:spAutoFit/>
          </a:bodyPr>
          <a:lstStyle/>
          <a:p>
            <a:pPr algn="ctr">
              <a:lnSpc>
                <a:spcPts val="19354"/>
              </a:lnSpc>
            </a:pPr>
            <a:r>
              <a:rPr lang="en-US" sz="16128" b="1">
                <a:solidFill>
                  <a:srgbClr val="202A41"/>
                </a:solidFill>
                <a:latin typeface="Poppins Bold"/>
                <a:ea typeface="Poppins Bold"/>
                <a:cs typeface="Poppins Bold"/>
                <a:sym typeface="Poppins Bold"/>
              </a:rPr>
              <a:t>Dax</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5400000">
            <a:off x="16342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grpSp>
        <p:nvGrpSpPr>
          <p:cNvPr id="6" name="Group 6"/>
          <p:cNvGrpSpPr>
            <a:grpSpLocks noChangeAspect="1"/>
          </p:cNvGrpSpPr>
          <p:nvPr/>
        </p:nvGrpSpPr>
        <p:grpSpPr>
          <a:xfrm>
            <a:off x="5240950" y="0"/>
            <a:ext cx="13047052" cy="739800"/>
            <a:chOff x="0" y="0"/>
            <a:chExt cx="17396069" cy="986400"/>
          </a:xfrm>
        </p:grpSpPr>
        <p:sp>
          <p:nvSpPr>
            <p:cNvPr id="7" name="Freeform 7"/>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5"/>
              <a:stretch>
                <a:fillRect t="-54253" b="-54252"/>
              </a:stretch>
            </a:blipFill>
          </p:spPr>
          <p:txBody>
            <a:bodyPr/>
            <a:lstStyle/>
            <a:p>
              <a:endParaRPr lang="en-US"/>
            </a:p>
          </p:txBody>
        </p:sp>
      </p:grpSp>
      <p:grpSp>
        <p:nvGrpSpPr>
          <p:cNvPr id="8" name="Group 8"/>
          <p:cNvGrpSpPr>
            <a:grpSpLocks noChangeAspect="1"/>
          </p:cNvGrpSpPr>
          <p:nvPr/>
        </p:nvGrpSpPr>
        <p:grpSpPr>
          <a:xfrm>
            <a:off x="14586824" y="300910"/>
            <a:ext cx="3170928" cy="138000"/>
            <a:chOff x="0" y="0"/>
            <a:chExt cx="4227904" cy="184000"/>
          </a:xfrm>
        </p:grpSpPr>
        <p:sp>
          <p:nvSpPr>
            <p:cNvPr id="9" name="Freeform 9"/>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6"/>
              <a:stretch>
                <a:fillRect l="-2" b="12"/>
              </a:stretch>
            </a:blipFill>
          </p:spPr>
          <p:txBody>
            <a:bodyPr/>
            <a:lstStyle/>
            <a:p>
              <a:endParaRPr lang="en-US"/>
            </a:p>
          </p:txBody>
        </p:sp>
      </p:grpSp>
      <p:sp>
        <p:nvSpPr>
          <p:cNvPr id="10" name="TextBox 10"/>
          <p:cNvSpPr txBox="1"/>
          <p:nvPr/>
        </p:nvSpPr>
        <p:spPr>
          <a:xfrm>
            <a:off x="1531425" y="1101734"/>
            <a:ext cx="15225150" cy="1029225"/>
          </a:xfrm>
          <a:prstGeom prst="rect">
            <a:avLst/>
          </a:prstGeom>
        </p:spPr>
        <p:txBody>
          <a:bodyPr lIns="0" tIns="0" rIns="0" bIns="0" rtlCol="0" anchor="t">
            <a:spAutoFit/>
          </a:bodyPr>
          <a:lstStyle/>
          <a:p>
            <a:pPr algn="l">
              <a:lnSpc>
                <a:spcPts val="7200"/>
              </a:lnSpc>
            </a:pPr>
            <a:r>
              <a:rPr lang="en-US" sz="6000" b="1">
                <a:solidFill>
                  <a:srgbClr val="202A41"/>
                </a:solidFill>
                <a:latin typeface="Poppins Bold"/>
                <a:ea typeface="Poppins Bold"/>
                <a:cs typeface="Poppins Bold"/>
                <a:sym typeface="Poppins Bold"/>
              </a:rPr>
              <a:t>DAX</a:t>
            </a:r>
          </a:p>
        </p:txBody>
      </p:sp>
      <p:grpSp>
        <p:nvGrpSpPr>
          <p:cNvPr id="11" name="Group 11"/>
          <p:cNvGrpSpPr/>
          <p:nvPr/>
        </p:nvGrpSpPr>
        <p:grpSpPr>
          <a:xfrm>
            <a:off x="1419516" y="2235398"/>
            <a:ext cx="7863840" cy="914400"/>
            <a:chOff x="0" y="0"/>
            <a:chExt cx="10485120" cy="1219200"/>
          </a:xfrm>
        </p:grpSpPr>
        <p:sp>
          <p:nvSpPr>
            <p:cNvPr id="12" name="Freeform 12"/>
            <p:cNvSpPr/>
            <p:nvPr/>
          </p:nvSpPr>
          <p:spPr>
            <a:xfrm>
              <a:off x="0" y="0"/>
              <a:ext cx="10485120" cy="1219200"/>
            </a:xfrm>
            <a:custGeom>
              <a:avLst/>
              <a:gdLst/>
              <a:ahLst/>
              <a:cxnLst/>
              <a:rect l="l" t="t" r="r" b="b"/>
              <a:pathLst>
                <a:path w="10485120" h="1219200">
                  <a:moveTo>
                    <a:pt x="0" y="0"/>
                  </a:moveTo>
                  <a:lnTo>
                    <a:pt x="10485120" y="0"/>
                  </a:lnTo>
                  <a:lnTo>
                    <a:pt x="10485120" y="1219200"/>
                  </a:lnTo>
                  <a:lnTo>
                    <a:pt x="0" y="1219200"/>
                  </a:lnTo>
                  <a:close/>
                </a:path>
              </a:pathLst>
            </a:custGeom>
            <a:solidFill>
              <a:srgbClr val="000000">
                <a:alpha val="0"/>
              </a:srgbClr>
            </a:solidFill>
          </p:spPr>
          <p:txBody>
            <a:bodyPr/>
            <a:lstStyle/>
            <a:p>
              <a:endParaRPr lang="en-US"/>
            </a:p>
          </p:txBody>
        </p:sp>
        <p:sp>
          <p:nvSpPr>
            <p:cNvPr id="13" name="TextBox 13"/>
            <p:cNvSpPr txBox="1"/>
            <p:nvPr/>
          </p:nvSpPr>
          <p:spPr>
            <a:xfrm>
              <a:off x="0" y="-38100"/>
              <a:ext cx="10485120" cy="1257300"/>
            </a:xfrm>
            <a:prstGeom prst="rect">
              <a:avLst/>
            </a:prstGeom>
          </p:spPr>
          <p:txBody>
            <a:bodyPr lIns="0" tIns="0" rIns="0" bIns="0" rtlCol="0" anchor="b"/>
            <a:lstStyle/>
            <a:p>
              <a:pPr algn="l">
                <a:lnSpc>
                  <a:spcPts val="4320"/>
                </a:lnSpc>
              </a:pPr>
              <a:r>
                <a:rPr lang="en-US" sz="3600" b="1">
                  <a:solidFill>
                    <a:srgbClr val="202A41"/>
                  </a:solidFill>
                  <a:latin typeface="Poppins Bold"/>
                  <a:ea typeface="Poppins Bold"/>
                  <a:cs typeface="Poppins Bold"/>
                  <a:sym typeface="Poppins Bold"/>
                </a:rPr>
                <a:t>Examples of Added Measures:</a:t>
              </a:r>
            </a:p>
          </p:txBody>
        </p:sp>
      </p:grpSp>
      <p:sp>
        <p:nvSpPr>
          <p:cNvPr id="14" name="TextBox 14"/>
          <p:cNvSpPr txBox="1"/>
          <p:nvPr/>
        </p:nvSpPr>
        <p:spPr>
          <a:xfrm>
            <a:off x="1510925" y="3227158"/>
            <a:ext cx="12984510" cy="5515005"/>
          </a:xfrm>
          <a:prstGeom prst="rect">
            <a:avLst/>
          </a:prstGeom>
        </p:spPr>
        <p:txBody>
          <a:bodyPr lIns="0" tIns="0" rIns="0" bIns="0" rtlCol="0" anchor="t">
            <a:spAutoFit/>
          </a:bodyPr>
          <a:lstStyle/>
          <a:p>
            <a:pPr marL="980440" lvl="1" indent="-490220" algn="just">
              <a:lnSpc>
                <a:spcPts val="3359"/>
              </a:lnSpc>
              <a:buFont typeface="Arial"/>
              <a:buChar char="•"/>
            </a:pPr>
            <a:r>
              <a:rPr lang="en-US" sz="2799">
                <a:solidFill>
                  <a:srgbClr val="202A41"/>
                </a:solidFill>
                <a:latin typeface="Poppins"/>
                <a:ea typeface="Poppins"/>
                <a:cs typeface="Poppins"/>
                <a:sym typeface="Poppins"/>
              </a:rPr>
              <a:t>Total Trip = COUNT(Cleaned_railway[Transaction ID])</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on_time_trip = CALCULATE([Total Trip],Cleaned_railway[Journey Status]="ON Time")</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Delayed_trip = CALCULATE([Total Trip],Cleaned_railway[Journey Status]="Delayed")</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Cancelled_trip = CALCULATE([Total Trip],Cleaned_railway[Journey Status]="Cancelled")</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Delay_percentage = [Delayed_trip]/[Total Trip]*100</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on_time_percentage = [on_time_trip]/[Total Trip]*100</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Cancelled_percentage = [Cancelled_trip]/[Total Trip]*100</a:t>
            </a:r>
          </a:p>
          <a:p>
            <a:pPr marL="980440" lvl="1" indent="-490220" algn="l">
              <a:lnSpc>
                <a:spcPts val="3359"/>
              </a:lnSpc>
            </a:pPr>
            <a:r>
              <a:rPr lang="en-US" sz="2799">
                <a:solidFill>
                  <a:srgbClr val="202A41"/>
                </a:solidFill>
                <a:latin typeface="Poppins"/>
                <a:ea typeface="Poppins"/>
                <a:cs typeface="Poppins"/>
                <a:sym typeface="Poppins"/>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5400000">
            <a:off x="16342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grpSp>
        <p:nvGrpSpPr>
          <p:cNvPr id="6" name="Group 6"/>
          <p:cNvGrpSpPr>
            <a:grpSpLocks noChangeAspect="1"/>
          </p:cNvGrpSpPr>
          <p:nvPr/>
        </p:nvGrpSpPr>
        <p:grpSpPr>
          <a:xfrm>
            <a:off x="5240950" y="0"/>
            <a:ext cx="13047052" cy="739800"/>
            <a:chOff x="0" y="0"/>
            <a:chExt cx="17396069" cy="986400"/>
          </a:xfrm>
        </p:grpSpPr>
        <p:sp>
          <p:nvSpPr>
            <p:cNvPr id="7" name="Freeform 7"/>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5"/>
              <a:stretch>
                <a:fillRect t="-54253" b="-54252"/>
              </a:stretch>
            </a:blipFill>
          </p:spPr>
          <p:txBody>
            <a:bodyPr/>
            <a:lstStyle/>
            <a:p>
              <a:endParaRPr lang="en-US"/>
            </a:p>
          </p:txBody>
        </p:sp>
      </p:grpSp>
      <p:grpSp>
        <p:nvGrpSpPr>
          <p:cNvPr id="8" name="Group 8"/>
          <p:cNvGrpSpPr>
            <a:grpSpLocks noChangeAspect="1"/>
          </p:cNvGrpSpPr>
          <p:nvPr/>
        </p:nvGrpSpPr>
        <p:grpSpPr>
          <a:xfrm>
            <a:off x="14586824" y="300910"/>
            <a:ext cx="3170928" cy="138000"/>
            <a:chOff x="0" y="0"/>
            <a:chExt cx="4227904" cy="184000"/>
          </a:xfrm>
        </p:grpSpPr>
        <p:sp>
          <p:nvSpPr>
            <p:cNvPr id="9" name="Freeform 9"/>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6"/>
              <a:stretch>
                <a:fillRect l="-2" b="12"/>
              </a:stretch>
            </a:blipFill>
          </p:spPr>
          <p:txBody>
            <a:bodyPr/>
            <a:lstStyle/>
            <a:p>
              <a:endParaRPr lang="en-US"/>
            </a:p>
          </p:txBody>
        </p:sp>
      </p:grpSp>
      <p:sp>
        <p:nvSpPr>
          <p:cNvPr id="10" name="TextBox 10"/>
          <p:cNvSpPr txBox="1"/>
          <p:nvPr/>
        </p:nvSpPr>
        <p:spPr>
          <a:xfrm>
            <a:off x="1531425" y="1101734"/>
            <a:ext cx="15225150" cy="1029225"/>
          </a:xfrm>
          <a:prstGeom prst="rect">
            <a:avLst/>
          </a:prstGeom>
        </p:spPr>
        <p:txBody>
          <a:bodyPr lIns="0" tIns="0" rIns="0" bIns="0" rtlCol="0" anchor="t">
            <a:spAutoFit/>
          </a:bodyPr>
          <a:lstStyle/>
          <a:p>
            <a:pPr algn="l">
              <a:lnSpc>
                <a:spcPts val="7200"/>
              </a:lnSpc>
            </a:pPr>
            <a:r>
              <a:rPr lang="en-US" sz="6000" b="1">
                <a:solidFill>
                  <a:srgbClr val="202A41"/>
                </a:solidFill>
                <a:latin typeface="Poppins Bold"/>
                <a:ea typeface="Poppins Bold"/>
                <a:cs typeface="Poppins Bold"/>
                <a:sym typeface="Poppins Bold"/>
              </a:rPr>
              <a:t>DAX</a:t>
            </a:r>
          </a:p>
        </p:txBody>
      </p:sp>
      <p:grpSp>
        <p:nvGrpSpPr>
          <p:cNvPr id="11" name="Group 11"/>
          <p:cNvGrpSpPr/>
          <p:nvPr/>
        </p:nvGrpSpPr>
        <p:grpSpPr>
          <a:xfrm>
            <a:off x="1419516" y="2130959"/>
            <a:ext cx="7863840" cy="1018839"/>
            <a:chOff x="0" y="0"/>
            <a:chExt cx="10485120" cy="1358452"/>
          </a:xfrm>
        </p:grpSpPr>
        <p:sp>
          <p:nvSpPr>
            <p:cNvPr id="12" name="Freeform 12"/>
            <p:cNvSpPr/>
            <p:nvPr/>
          </p:nvSpPr>
          <p:spPr>
            <a:xfrm>
              <a:off x="0" y="0"/>
              <a:ext cx="10485120" cy="1358452"/>
            </a:xfrm>
            <a:custGeom>
              <a:avLst/>
              <a:gdLst/>
              <a:ahLst/>
              <a:cxnLst/>
              <a:rect l="l" t="t" r="r" b="b"/>
              <a:pathLst>
                <a:path w="10485120" h="1358452">
                  <a:moveTo>
                    <a:pt x="0" y="0"/>
                  </a:moveTo>
                  <a:lnTo>
                    <a:pt x="10485120" y="0"/>
                  </a:lnTo>
                  <a:lnTo>
                    <a:pt x="10485120" y="1358452"/>
                  </a:lnTo>
                  <a:lnTo>
                    <a:pt x="0" y="1358452"/>
                  </a:lnTo>
                  <a:close/>
                </a:path>
              </a:pathLst>
            </a:custGeom>
            <a:solidFill>
              <a:srgbClr val="000000">
                <a:alpha val="0"/>
              </a:srgbClr>
            </a:solidFill>
          </p:spPr>
          <p:txBody>
            <a:bodyPr/>
            <a:lstStyle/>
            <a:p>
              <a:endParaRPr lang="en-US"/>
            </a:p>
          </p:txBody>
        </p:sp>
        <p:sp>
          <p:nvSpPr>
            <p:cNvPr id="13" name="TextBox 13"/>
            <p:cNvSpPr txBox="1"/>
            <p:nvPr/>
          </p:nvSpPr>
          <p:spPr>
            <a:xfrm>
              <a:off x="0" y="-38100"/>
              <a:ext cx="10485120" cy="1396552"/>
            </a:xfrm>
            <a:prstGeom prst="rect">
              <a:avLst/>
            </a:prstGeom>
          </p:spPr>
          <p:txBody>
            <a:bodyPr lIns="0" tIns="0" rIns="0" bIns="0" rtlCol="0" anchor="b"/>
            <a:lstStyle/>
            <a:p>
              <a:pPr algn="l">
                <a:lnSpc>
                  <a:spcPts val="4320"/>
                </a:lnSpc>
              </a:pPr>
              <a:r>
                <a:rPr lang="en-US" sz="3600" b="1">
                  <a:solidFill>
                    <a:srgbClr val="202A41"/>
                  </a:solidFill>
                  <a:latin typeface="Poppins Bold"/>
                  <a:ea typeface="Poppins Bold"/>
                  <a:cs typeface="Poppins Bold"/>
                  <a:sym typeface="Poppins Bold"/>
                </a:rPr>
                <a:t>Examples of Added Measures:</a:t>
              </a:r>
            </a:p>
          </p:txBody>
        </p:sp>
      </p:grpSp>
      <p:sp>
        <p:nvSpPr>
          <p:cNvPr id="14" name="TextBox 14"/>
          <p:cNvSpPr txBox="1"/>
          <p:nvPr/>
        </p:nvSpPr>
        <p:spPr>
          <a:xfrm>
            <a:off x="1510925" y="3227158"/>
            <a:ext cx="13898910" cy="5515005"/>
          </a:xfrm>
          <a:prstGeom prst="rect">
            <a:avLst/>
          </a:prstGeom>
        </p:spPr>
        <p:txBody>
          <a:bodyPr lIns="0" tIns="0" rIns="0" bIns="0" rtlCol="0" anchor="t">
            <a:spAutoFit/>
          </a:bodyPr>
          <a:lstStyle/>
          <a:p>
            <a:pPr marL="980440" lvl="1" indent="-490220" algn="just">
              <a:lnSpc>
                <a:spcPts val="3359"/>
              </a:lnSpc>
              <a:buFont typeface="Arial"/>
              <a:buChar char="•"/>
            </a:pPr>
            <a:r>
              <a:rPr lang="en-US" sz="2799">
                <a:solidFill>
                  <a:srgbClr val="202A41"/>
                </a:solidFill>
                <a:latin typeface="Poppins"/>
                <a:ea typeface="Poppins"/>
                <a:cs typeface="Poppins"/>
                <a:sym typeface="Poppins"/>
              </a:rPr>
              <a:t>avg_delay_duration = AVERAGE(Cleaned_railway[Delayed in Minutes])</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max_delay_duration = MAX(Cleaned_railway[Delayed in Minutes])</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min_delay_duration = MIN(Cleaned_railway[Delayed in Minutes])</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total_revenue = SUM(Cleaned_railway[Price])</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avg_price = AVERAGE(Cleaned_railway[Price])</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max_price = MAX(Cleaned_railway[Price])</a:t>
            </a:r>
          </a:p>
          <a:p>
            <a:pPr marL="980440" lvl="1" indent="-490220" algn="just">
              <a:lnSpc>
                <a:spcPts val="3359"/>
              </a:lnSpc>
              <a:buFont typeface="Arial"/>
              <a:buChar char="•"/>
            </a:pPr>
            <a:r>
              <a:rPr lang="en-US" sz="2799">
                <a:solidFill>
                  <a:srgbClr val="202A41"/>
                </a:solidFill>
                <a:latin typeface="Poppins"/>
                <a:ea typeface="Poppins"/>
                <a:cs typeface="Poppins"/>
                <a:sym typeface="Poppins"/>
              </a:rPr>
              <a:t>min_price = MIN(Cleaned_railway[Price])</a:t>
            </a:r>
          </a:p>
          <a:p>
            <a:pPr marL="980440" lvl="1" indent="-490220" algn="l">
              <a:lnSpc>
                <a:spcPts val="3359"/>
              </a:lnSpc>
            </a:pPr>
            <a:r>
              <a:rPr lang="en-US" sz="2799">
                <a:solidFill>
                  <a:srgbClr val="202A41"/>
                </a:solidFill>
                <a:latin typeface="Poppins"/>
                <a:ea typeface="Poppins"/>
                <a:cs typeface="Poppins"/>
                <a:sym typeface="Poppins"/>
              </a:rPr>
              <a:t> </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36991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5400000">
            <a:off x="16342400" y="8341450"/>
            <a:ext cx="1945550" cy="1945550"/>
            <a:chOff x="0" y="0"/>
            <a:chExt cx="2594067" cy="2594067"/>
          </a:xfrm>
        </p:grpSpPr>
        <p:sp>
          <p:nvSpPr>
            <p:cNvPr id="5" name="Freeform 5"/>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4"/>
              <a:stretch>
                <a:fillRect r="1" b="1"/>
              </a:stretch>
            </a:blipFill>
          </p:spPr>
          <p:txBody>
            <a:bodyPr/>
            <a:lstStyle/>
            <a:p>
              <a:endParaRPr lang="en-US"/>
            </a:p>
          </p:txBody>
        </p:sp>
      </p:grpSp>
      <p:grpSp>
        <p:nvGrpSpPr>
          <p:cNvPr id="6" name="Group 6"/>
          <p:cNvGrpSpPr>
            <a:grpSpLocks noChangeAspect="1"/>
          </p:cNvGrpSpPr>
          <p:nvPr/>
        </p:nvGrpSpPr>
        <p:grpSpPr>
          <a:xfrm>
            <a:off x="5240948" y="0"/>
            <a:ext cx="13047052" cy="739800"/>
            <a:chOff x="0" y="0"/>
            <a:chExt cx="17396069" cy="986400"/>
          </a:xfrm>
        </p:grpSpPr>
        <p:sp>
          <p:nvSpPr>
            <p:cNvPr id="7" name="Freeform 7"/>
            <p:cNvSpPr/>
            <p:nvPr/>
          </p:nvSpPr>
          <p:spPr>
            <a:xfrm flipH="1">
              <a:off x="0" y="0"/>
              <a:ext cx="17396079" cy="986409"/>
            </a:xfrm>
            <a:custGeom>
              <a:avLst/>
              <a:gdLst/>
              <a:ahLst/>
              <a:cxnLst/>
              <a:rect l="l" t="t" r="r" b="b"/>
              <a:pathLst>
                <a:path w="17396079" h="986409">
                  <a:moveTo>
                    <a:pt x="17396079" y="0"/>
                  </a:moveTo>
                  <a:lnTo>
                    <a:pt x="0" y="0"/>
                  </a:lnTo>
                  <a:lnTo>
                    <a:pt x="0" y="986409"/>
                  </a:lnTo>
                  <a:lnTo>
                    <a:pt x="17396079" y="986409"/>
                  </a:lnTo>
                  <a:lnTo>
                    <a:pt x="17396079" y="0"/>
                  </a:lnTo>
                  <a:close/>
                </a:path>
              </a:pathLst>
            </a:custGeom>
            <a:blipFill>
              <a:blip r:embed="rId5"/>
              <a:stretch>
                <a:fillRect t="-54253" b="-54252"/>
              </a:stretch>
            </a:blipFill>
          </p:spPr>
          <p:txBody>
            <a:bodyPr/>
            <a:lstStyle/>
            <a:p>
              <a:endParaRPr lang="en-US"/>
            </a:p>
          </p:txBody>
        </p:sp>
      </p:grpSp>
      <p:grpSp>
        <p:nvGrpSpPr>
          <p:cNvPr id="8" name="Group 8"/>
          <p:cNvGrpSpPr>
            <a:grpSpLocks noChangeAspect="1"/>
          </p:cNvGrpSpPr>
          <p:nvPr/>
        </p:nvGrpSpPr>
        <p:grpSpPr>
          <a:xfrm>
            <a:off x="14586824" y="300910"/>
            <a:ext cx="3170928" cy="138000"/>
            <a:chOff x="0" y="0"/>
            <a:chExt cx="4227904" cy="184000"/>
          </a:xfrm>
        </p:grpSpPr>
        <p:sp>
          <p:nvSpPr>
            <p:cNvPr id="9" name="Freeform 9"/>
            <p:cNvSpPr/>
            <p:nvPr/>
          </p:nvSpPr>
          <p:spPr>
            <a:xfrm flipH="1">
              <a:off x="0" y="0"/>
              <a:ext cx="4227957" cy="184023"/>
            </a:xfrm>
            <a:custGeom>
              <a:avLst/>
              <a:gdLst/>
              <a:ahLst/>
              <a:cxnLst/>
              <a:rect l="l" t="t" r="r" b="b"/>
              <a:pathLst>
                <a:path w="4227957" h="184023">
                  <a:moveTo>
                    <a:pt x="4227957" y="0"/>
                  </a:moveTo>
                  <a:lnTo>
                    <a:pt x="0" y="0"/>
                  </a:lnTo>
                  <a:lnTo>
                    <a:pt x="0" y="184023"/>
                  </a:lnTo>
                  <a:lnTo>
                    <a:pt x="4227957" y="184023"/>
                  </a:lnTo>
                  <a:lnTo>
                    <a:pt x="4227957" y="0"/>
                  </a:lnTo>
                  <a:close/>
                </a:path>
              </a:pathLst>
            </a:custGeom>
            <a:blipFill>
              <a:blip r:embed="rId6"/>
              <a:stretch>
                <a:fillRect l="-2" b="12"/>
              </a:stretch>
            </a:blipFill>
          </p:spPr>
          <p:txBody>
            <a:bodyPr/>
            <a:lstStyle/>
            <a:p>
              <a:endParaRPr lang="en-US"/>
            </a:p>
          </p:txBody>
        </p:sp>
      </p:grpSp>
      <p:sp>
        <p:nvSpPr>
          <p:cNvPr id="10" name="TextBox 10"/>
          <p:cNvSpPr txBox="1"/>
          <p:nvPr/>
        </p:nvSpPr>
        <p:spPr>
          <a:xfrm>
            <a:off x="4118714" y="3767456"/>
            <a:ext cx="10050573" cy="2599688"/>
          </a:xfrm>
          <a:prstGeom prst="rect">
            <a:avLst/>
          </a:prstGeom>
        </p:spPr>
        <p:txBody>
          <a:bodyPr lIns="0" tIns="0" rIns="0" bIns="0" rtlCol="0" anchor="t">
            <a:spAutoFit/>
          </a:bodyPr>
          <a:lstStyle/>
          <a:p>
            <a:pPr algn="l">
              <a:lnSpc>
                <a:spcPts val="19354"/>
              </a:lnSpc>
            </a:pPr>
            <a:r>
              <a:rPr lang="en-US" sz="16128" b="1">
                <a:solidFill>
                  <a:srgbClr val="202A41"/>
                </a:solidFill>
                <a:latin typeface="Poppins Bold"/>
                <a:ea typeface="Poppins Bold"/>
                <a:cs typeface="Poppins Bold"/>
                <a:sym typeface="Poppins Bold"/>
              </a:rPr>
              <a:t>Insights</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10800000">
            <a:off x="15773400" y="0"/>
            <a:ext cx="2346652" cy="2140198"/>
            <a:chOff x="0" y="0"/>
            <a:chExt cx="3128869" cy="2853597"/>
          </a:xfrm>
        </p:grpSpPr>
        <p:sp>
          <p:nvSpPr>
            <p:cNvPr id="5" name="Freeform 5"/>
            <p:cNvSpPr/>
            <p:nvPr/>
          </p:nvSpPr>
          <p:spPr>
            <a:xfrm flipH="1">
              <a:off x="0" y="0"/>
              <a:ext cx="3128899" cy="2853563"/>
            </a:xfrm>
            <a:custGeom>
              <a:avLst/>
              <a:gdLst/>
              <a:ahLst/>
              <a:cxnLst/>
              <a:rect l="l" t="t" r="r" b="b"/>
              <a:pathLst>
                <a:path w="3128899" h="2853563">
                  <a:moveTo>
                    <a:pt x="3128899" y="0"/>
                  </a:moveTo>
                  <a:lnTo>
                    <a:pt x="0" y="0"/>
                  </a:lnTo>
                  <a:lnTo>
                    <a:pt x="0" y="2853563"/>
                  </a:lnTo>
                  <a:lnTo>
                    <a:pt x="3128899" y="2853563"/>
                  </a:lnTo>
                  <a:lnTo>
                    <a:pt x="3128899" y="0"/>
                  </a:lnTo>
                  <a:close/>
                </a:path>
              </a:pathLst>
            </a:custGeom>
            <a:blipFill>
              <a:blip r:embed="rId4"/>
              <a:stretch>
                <a:fillRect l="-46309" t="-159" r="-2" b="-22391"/>
              </a:stretch>
            </a:blipFill>
          </p:spPr>
          <p:txBody>
            <a:bodyPr/>
            <a:lstStyle/>
            <a:p>
              <a:endParaRPr lang="en-US"/>
            </a:p>
          </p:txBody>
        </p:sp>
      </p:grpSp>
      <p:grpSp>
        <p:nvGrpSpPr>
          <p:cNvPr id="6" name="Group 6"/>
          <p:cNvGrpSpPr>
            <a:grpSpLocks noChangeAspect="1"/>
          </p:cNvGrpSpPr>
          <p:nvPr/>
        </p:nvGrpSpPr>
        <p:grpSpPr>
          <a:xfrm rot="-10800000">
            <a:off x="-25400" y="8341450"/>
            <a:ext cx="1945550" cy="1945550"/>
            <a:chOff x="0" y="0"/>
            <a:chExt cx="2594067" cy="2594067"/>
          </a:xfrm>
        </p:grpSpPr>
        <p:sp>
          <p:nvSpPr>
            <p:cNvPr id="7" name="Freeform 7"/>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5"/>
              <a:stretch>
                <a:fillRect r="1" b="1"/>
              </a:stretch>
            </a:blipFill>
          </p:spPr>
          <p:txBody>
            <a:bodyPr/>
            <a:lstStyle/>
            <a:p>
              <a:endParaRPr lang="en-US"/>
            </a:p>
          </p:txBody>
        </p:sp>
      </p:grpSp>
      <p:sp>
        <p:nvSpPr>
          <p:cNvPr id="8" name="TextBox 8"/>
          <p:cNvSpPr txBox="1"/>
          <p:nvPr/>
        </p:nvSpPr>
        <p:spPr>
          <a:xfrm>
            <a:off x="1531425" y="1103750"/>
            <a:ext cx="15225150" cy="98107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Insights</a:t>
            </a:r>
          </a:p>
        </p:txBody>
      </p:sp>
      <p:sp>
        <p:nvSpPr>
          <p:cNvPr id="9" name="TextBox 9"/>
          <p:cNvSpPr txBox="1"/>
          <p:nvPr/>
        </p:nvSpPr>
        <p:spPr>
          <a:xfrm>
            <a:off x="1510925" y="2773975"/>
            <a:ext cx="12435870" cy="5467350"/>
          </a:xfrm>
          <a:prstGeom prst="rect">
            <a:avLst/>
          </a:prstGeom>
        </p:spPr>
        <p:txBody>
          <a:bodyPr lIns="0" tIns="0" rIns="0" bIns="0" rtlCol="0" anchor="t">
            <a:spAutoFit/>
          </a:bodyPr>
          <a:lstStyle/>
          <a:p>
            <a:pPr marL="675640" lvl="1" indent="-337820" algn="just">
              <a:lnSpc>
                <a:spcPts val="3359"/>
              </a:lnSpc>
              <a:buFont typeface="Arial"/>
              <a:buChar char="•"/>
            </a:pPr>
            <a:r>
              <a:rPr lang="en-US" sz="2799" b="1" dirty="0">
                <a:solidFill>
                  <a:srgbClr val="202A41"/>
                </a:solidFill>
                <a:latin typeface="Arial Bold"/>
                <a:ea typeface="Arial Bold"/>
                <a:cs typeface="Arial Bold"/>
                <a:sym typeface="Arial Bold"/>
              </a:rPr>
              <a:t>Ticket Sales</a:t>
            </a:r>
          </a:p>
          <a:p>
            <a:pPr marL="675640" lvl="1" indent="-337820" algn="just">
              <a:lnSpc>
                <a:spcPts val="3359"/>
              </a:lnSpc>
              <a:buFont typeface="Arial"/>
              <a:buChar char="•"/>
            </a:pPr>
            <a:r>
              <a:rPr lang="en-US" sz="2799" dirty="0">
                <a:solidFill>
                  <a:srgbClr val="202A41"/>
                </a:solidFill>
                <a:latin typeface="Arial"/>
                <a:ea typeface="Arial"/>
                <a:cs typeface="Arial"/>
                <a:sym typeface="Arial"/>
              </a:rPr>
              <a:t>Total tickets sold</a:t>
            </a:r>
          </a:p>
          <a:p>
            <a:pPr marL="675639" lvl="1" indent="-337820" algn="just">
              <a:lnSpc>
                <a:spcPts val="3359"/>
              </a:lnSpc>
              <a:buFont typeface="Arial"/>
              <a:buChar char="•"/>
            </a:pPr>
            <a:r>
              <a:rPr lang="en-US" sz="2799" dirty="0">
                <a:solidFill>
                  <a:srgbClr val="202A41"/>
                </a:solidFill>
                <a:latin typeface="Arial"/>
                <a:ea typeface="Arial"/>
                <a:cs typeface="Arial"/>
                <a:sym typeface="Arial"/>
              </a:rPr>
              <a:t>Weekly trend of ticket purchases</a:t>
            </a:r>
          </a:p>
          <a:p>
            <a:pPr marL="675640" lvl="1" indent="-337820" algn="just">
              <a:lnSpc>
                <a:spcPts val="3359"/>
              </a:lnSpc>
              <a:buFont typeface="Arial"/>
              <a:buChar char="•"/>
            </a:pPr>
            <a:r>
              <a:rPr lang="en-US" sz="2799" dirty="0">
                <a:solidFill>
                  <a:srgbClr val="202A41"/>
                </a:solidFill>
                <a:latin typeface="Arial"/>
                <a:ea typeface="Arial"/>
                <a:cs typeface="Arial"/>
                <a:sym typeface="Arial"/>
              </a:rPr>
              <a:t>Total revenue</a:t>
            </a:r>
          </a:p>
          <a:p>
            <a:pPr marL="675640" lvl="1" indent="-337820" algn="just">
              <a:lnSpc>
                <a:spcPts val="3359"/>
              </a:lnSpc>
              <a:buFont typeface="Arial"/>
              <a:buChar char="•"/>
            </a:pPr>
            <a:r>
              <a:rPr lang="en-US" sz="2799" dirty="0">
                <a:solidFill>
                  <a:srgbClr val="202A41"/>
                </a:solidFill>
                <a:latin typeface="Arial"/>
                <a:ea typeface="Arial"/>
                <a:cs typeface="Arial"/>
                <a:sym typeface="Arial"/>
              </a:rPr>
              <a:t>Average ticket price by type</a:t>
            </a:r>
          </a:p>
          <a:p>
            <a:pPr marL="675640" lvl="1" indent="-337820" algn="just">
              <a:lnSpc>
                <a:spcPts val="3359"/>
              </a:lnSpc>
              <a:buFont typeface="Arial"/>
              <a:buChar char="•"/>
            </a:pPr>
            <a:r>
              <a:rPr lang="en-US" sz="2799" dirty="0">
                <a:solidFill>
                  <a:srgbClr val="202A41"/>
                </a:solidFill>
                <a:latin typeface="Arial"/>
                <a:ea typeface="Arial"/>
                <a:cs typeface="Arial"/>
                <a:sym typeface="Arial"/>
              </a:rPr>
              <a:t>Average ticket price by class</a:t>
            </a:r>
          </a:p>
          <a:p>
            <a:pPr marL="675640" lvl="1" indent="-337820" algn="just">
              <a:lnSpc>
                <a:spcPts val="3359"/>
              </a:lnSpc>
            </a:pPr>
            <a:endParaRPr lang="en-US" sz="2799" dirty="0">
              <a:solidFill>
                <a:srgbClr val="202A41"/>
              </a:solidFill>
              <a:latin typeface="Arial"/>
              <a:ea typeface="Arial"/>
              <a:cs typeface="Arial"/>
              <a:sym typeface="Arial"/>
            </a:endParaRPr>
          </a:p>
          <a:p>
            <a:pPr marL="675640" lvl="1" indent="-337820" algn="just">
              <a:lnSpc>
                <a:spcPts val="3359"/>
              </a:lnSpc>
              <a:buFont typeface="Arial"/>
              <a:buChar char="•"/>
            </a:pPr>
            <a:r>
              <a:rPr lang="en-US" sz="2799" b="1" dirty="0">
                <a:solidFill>
                  <a:srgbClr val="202A41"/>
                </a:solidFill>
                <a:latin typeface="Arial Bold"/>
                <a:ea typeface="Arial Bold"/>
                <a:cs typeface="Arial Bold"/>
                <a:sym typeface="Arial Bold"/>
              </a:rPr>
              <a:t>Passenger</a:t>
            </a:r>
          </a:p>
          <a:p>
            <a:pPr marL="675639" lvl="1" indent="-337820" algn="just">
              <a:lnSpc>
                <a:spcPts val="3359"/>
              </a:lnSpc>
              <a:buFont typeface="Arial"/>
              <a:buChar char="•"/>
            </a:pPr>
            <a:r>
              <a:rPr lang="en-US" sz="2799" dirty="0">
                <a:solidFill>
                  <a:srgbClr val="202A41"/>
                </a:solidFill>
                <a:latin typeface="Arial"/>
                <a:ea typeface="Arial"/>
                <a:cs typeface="Arial"/>
                <a:sym typeface="Arial"/>
              </a:rPr>
              <a:t>How do people buy tickets? (app, online, station)</a:t>
            </a:r>
          </a:p>
          <a:p>
            <a:pPr marL="675639" lvl="1" indent="-337820" algn="just">
              <a:lnSpc>
                <a:spcPts val="3359"/>
              </a:lnSpc>
              <a:buFont typeface="Arial"/>
              <a:buChar char="•"/>
            </a:pPr>
            <a:r>
              <a:rPr lang="en-US" sz="2799" dirty="0">
                <a:solidFill>
                  <a:srgbClr val="202A41"/>
                </a:solidFill>
                <a:latin typeface="Arial"/>
                <a:ea typeface="Arial"/>
                <a:cs typeface="Arial"/>
                <a:sym typeface="Arial"/>
              </a:rPr>
              <a:t>How do they pay? (cash, card, e-wallet)</a:t>
            </a:r>
          </a:p>
          <a:p>
            <a:pPr marL="675639" lvl="1" indent="-337820" algn="just">
              <a:lnSpc>
                <a:spcPts val="3359"/>
              </a:lnSpc>
              <a:buFont typeface="Arial"/>
              <a:buChar char="•"/>
            </a:pPr>
            <a:r>
              <a:rPr lang="en-US" sz="2799" dirty="0">
                <a:solidFill>
                  <a:srgbClr val="202A41"/>
                </a:solidFill>
                <a:latin typeface="Arial"/>
                <a:ea typeface="Arial"/>
                <a:cs typeface="Arial"/>
                <a:sym typeface="Arial"/>
              </a:rPr>
              <a:t>Passengers by ticket type</a:t>
            </a:r>
          </a:p>
          <a:p>
            <a:pPr marL="675639" lvl="1" indent="-337820" algn="just">
              <a:lnSpc>
                <a:spcPts val="3359"/>
              </a:lnSpc>
              <a:buFont typeface="Arial"/>
              <a:buChar char="•"/>
            </a:pPr>
            <a:r>
              <a:rPr lang="en-US" sz="2799" dirty="0">
                <a:solidFill>
                  <a:srgbClr val="202A41"/>
                </a:solidFill>
                <a:latin typeface="Arial"/>
                <a:ea typeface="Arial"/>
                <a:cs typeface="Arial"/>
                <a:sym typeface="Arial"/>
              </a:rPr>
              <a:t>Passengers by class (first, economy, etc.)</a:t>
            </a:r>
          </a:p>
          <a:p>
            <a:pPr marL="675640" lvl="1" indent="-337820" algn="just">
              <a:lnSpc>
                <a:spcPts val="3359"/>
              </a:lnSpc>
              <a:buFont typeface="Arial"/>
              <a:buChar char="•"/>
            </a:pPr>
            <a:r>
              <a:rPr lang="en-US" sz="2799" dirty="0">
                <a:solidFill>
                  <a:srgbClr val="202A41"/>
                </a:solidFill>
                <a:latin typeface="Arial"/>
                <a:ea typeface="Arial"/>
                <a:cs typeface="Arial"/>
                <a:sym typeface="Arial"/>
              </a:rPr>
              <a:t>Average time between booking and travel</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4" name="Group 4"/>
          <p:cNvGrpSpPr>
            <a:grpSpLocks noChangeAspect="1"/>
          </p:cNvGrpSpPr>
          <p:nvPr/>
        </p:nvGrpSpPr>
        <p:grpSpPr>
          <a:xfrm rot="-10800000">
            <a:off x="16398548" y="22750"/>
            <a:ext cx="2346652" cy="2140198"/>
            <a:chOff x="0" y="0"/>
            <a:chExt cx="3128869" cy="2853597"/>
          </a:xfrm>
        </p:grpSpPr>
        <p:sp>
          <p:nvSpPr>
            <p:cNvPr id="5" name="Freeform 5"/>
            <p:cNvSpPr/>
            <p:nvPr/>
          </p:nvSpPr>
          <p:spPr>
            <a:xfrm flipH="1">
              <a:off x="0" y="0"/>
              <a:ext cx="3128899" cy="2853563"/>
            </a:xfrm>
            <a:custGeom>
              <a:avLst/>
              <a:gdLst/>
              <a:ahLst/>
              <a:cxnLst/>
              <a:rect l="l" t="t" r="r" b="b"/>
              <a:pathLst>
                <a:path w="3128899" h="2853563">
                  <a:moveTo>
                    <a:pt x="3128899" y="0"/>
                  </a:moveTo>
                  <a:lnTo>
                    <a:pt x="0" y="0"/>
                  </a:lnTo>
                  <a:lnTo>
                    <a:pt x="0" y="2853563"/>
                  </a:lnTo>
                  <a:lnTo>
                    <a:pt x="3128899" y="2853563"/>
                  </a:lnTo>
                  <a:lnTo>
                    <a:pt x="3128899" y="0"/>
                  </a:lnTo>
                  <a:close/>
                </a:path>
              </a:pathLst>
            </a:custGeom>
            <a:blipFill>
              <a:blip r:embed="rId4"/>
              <a:stretch>
                <a:fillRect l="-46309" t="-159" r="-2" b="-22391"/>
              </a:stretch>
            </a:blipFill>
          </p:spPr>
          <p:txBody>
            <a:bodyPr/>
            <a:lstStyle/>
            <a:p>
              <a:endParaRPr lang="en-US"/>
            </a:p>
          </p:txBody>
        </p:sp>
      </p:grpSp>
      <p:grpSp>
        <p:nvGrpSpPr>
          <p:cNvPr id="6" name="Group 6"/>
          <p:cNvGrpSpPr>
            <a:grpSpLocks noChangeAspect="1"/>
          </p:cNvGrpSpPr>
          <p:nvPr/>
        </p:nvGrpSpPr>
        <p:grpSpPr>
          <a:xfrm rot="-10800000">
            <a:off x="-25400" y="8341450"/>
            <a:ext cx="1945550" cy="1945550"/>
            <a:chOff x="0" y="0"/>
            <a:chExt cx="2594067" cy="2594067"/>
          </a:xfrm>
        </p:grpSpPr>
        <p:sp>
          <p:nvSpPr>
            <p:cNvPr id="7" name="Freeform 7"/>
            <p:cNvSpPr/>
            <p:nvPr/>
          </p:nvSpPr>
          <p:spPr>
            <a:xfrm>
              <a:off x="0" y="0"/>
              <a:ext cx="2594102" cy="2594102"/>
            </a:xfrm>
            <a:custGeom>
              <a:avLst/>
              <a:gdLst/>
              <a:ahLst/>
              <a:cxnLst/>
              <a:rect l="l" t="t" r="r" b="b"/>
              <a:pathLst>
                <a:path w="2594102" h="2594102">
                  <a:moveTo>
                    <a:pt x="0" y="0"/>
                  </a:moveTo>
                  <a:lnTo>
                    <a:pt x="2594102" y="0"/>
                  </a:lnTo>
                  <a:lnTo>
                    <a:pt x="2594102" y="2594102"/>
                  </a:lnTo>
                  <a:lnTo>
                    <a:pt x="0" y="2594102"/>
                  </a:lnTo>
                  <a:lnTo>
                    <a:pt x="0" y="0"/>
                  </a:lnTo>
                  <a:close/>
                </a:path>
              </a:pathLst>
            </a:custGeom>
            <a:blipFill>
              <a:blip r:embed="rId5"/>
              <a:stretch>
                <a:fillRect r="1" b="1"/>
              </a:stretch>
            </a:blipFill>
          </p:spPr>
          <p:txBody>
            <a:bodyPr/>
            <a:lstStyle/>
            <a:p>
              <a:endParaRPr lang="en-US"/>
            </a:p>
          </p:txBody>
        </p:sp>
      </p:grpSp>
      <p:sp>
        <p:nvSpPr>
          <p:cNvPr id="8" name="TextBox 8"/>
          <p:cNvSpPr txBox="1"/>
          <p:nvPr/>
        </p:nvSpPr>
        <p:spPr>
          <a:xfrm>
            <a:off x="1531425" y="1103750"/>
            <a:ext cx="15225150" cy="102922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Insights</a:t>
            </a:r>
          </a:p>
        </p:txBody>
      </p:sp>
      <p:sp>
        <p:nvSpPr>
          <p:cNvPr id="9" name="TextBox 9"/>
          <p:cNvSpPr txBox="1"/>
          <p:nvPr/>
        </p:nvSpPr>
        <p:spPr>
          <a:xfrm>
            <a:off x="1510925" y="2773975"/>
            <a:ext cx="12435870" cy="4629150"/>
          </a:xfrm>
          <a:prstGeom prst="rect">
            <a:avLst/>
          </a:prstGeom>
        </p:spPr>
        <p:txBody>
          <a:bodyPr lIns="0" tIns="0" rIns="0" bIns="0" rtlCol="0" anchor="t">
            <a:spAutoFit/>
          </a:bodyPr>
          <a:lstStyle/>
          <a:p>
            <a:pPr marL="675640" lvl="1" indent="-337820" algn="just">
              <a:lnSpc>
                <a:spcPts val="3359"/>
              </a:lnSpc>
              <a:buFont typeface="Arial"/>
              <a:buChar char="•"/>
            </a:pPr>
            <a:r>
              <a:rPr lang="en-US" sz="2799" b="1">
                <a:solidFill>
                  <a:srgbClr val="202A41"/>
                </a:solidFill>
                <a:latin typeface="Arial Bold"/>
                <a:ea typeface="Arial Bold"/>
                <a:cs typeface="Arial Bold"/>
                <a:sym typeface="Arial Bold"/>
              </a:rPr>
              <a:t>Station and routes</a:t>
            </a:r>
          </a:p>
          <a:p>
            <a:pPr marL="675639" lvl="1" indent="-337820" algn="just">
              <a:lnSpc>
                <a:spcPts val="3359"/>
              </a:lnSpc>
              <a:buFont typeface="Arial"/>
              <a:buChar char="•"/>
            </a:pPr>
            <a:r>
              <a:rPr lang="en-US" sz="2799">
                <a:solidFill>
                  <a:srgbClr val="202A41"/>
                </a:solidFill>
                <a:latin typeface="Arial"/>
                <a:ea typeface="Arial"/>
                <a:cs typeface="Arial"/>
                <a:sym typeface="Arial"/>
              </a:rPr>
              <a:t>Total number of routes</a:t>
            </a:r>
          </a:p>
          <a:p>
            <a:pPr marL="675639" lvl="1" indent="-337820" algn="just">
              <a:lnSpc>
                <a:spcPts val="3359"/>
              </a:lnSpc>
              <a:buFont typeface="Arial"/>
              <a:buChar char="•"/>
            </a:pPr>
            <a:r>
              <a:rPr lang="en-US" sz="2799">
                <a:solidFill>
                  <a:srgbClr val="202A41"/>
                </a:solidFill>
                <a:latin typeface="Arial"/>
                <a:ea typeface="Arial"/>
                <a:cs typeface="Arial"/>
                <a:sym typeface="Arial"/>
              </a:rPr>
              <a:t>Most popular routes</a:t>
            </a:r>
          </a:p>
          <a:p>
            <a:pPr marL="675640" lvl="1" indent="-337820" algn="just">
              <a:lnSpc>
                <a:spcPts val="3359"/>
              </a:lnSpc>
              <a:buFont typeface="Arial"/>
              <a:buChar char="•"/>
            </a:pPr>
            <a:r>
              <a:rPr lang="en-US" sz="2799">
                <a:solidFill>
                  <a:srgbClr val="202A41"/>
                </a:solidFill>
                <a:latin typeface="Arial"/>
                <a:ea typeface="Arial"/>
                <a:cs typeface="Arial"/>
                <a:sym typeface="Arial"/>
              </a:rPr>
              <a:t>Busiest travel days</a:t>
            </a:r>
          </a:p>
          <a:p>
            <a:pPr marL="675640" lvl="1" indent="-337820" algn="just">
              <a:lnSpc>
                <a:spcPts val="3359"/>
              </a:lnSpc>
              <a:buFont typeface="Arial"/>
              <a:buChar char="•"/>
            </a:pPr>
            <a:r>
              <a:rPr lang="en-US" sz="2799">
                <a:solidFill>
                  <a:srgbClr val="202A41"/>
                </a:solidFill>
                <a:latin typeface="Arial"/>
                <a:ea typeface="Arial"/>
                <a:cs typeface="Arial"/>
                <a:sym typeface="Arial"/>
              </a:rPr>
              <a:t>Busiest travel hours</a:t>
            </a:r>
          </a:p>
          <a:p>
            <a:pPr marL="675640" lvl="1" indent="-337820" algn="just">
              <a:lnSpc>
                <a:spcPts val="3359"/>
              </a:lnSpc>
            </a:pPr>
            <a:endParaRPr lang="en-US" sz="2799">
              <a:solidFill>
                <a:srgbClr val="202A41"/>
              </a:solidFill>
              <a:latin typeface="Arial"/>
              <a:ea typeface="Arial"/>
              <a:cs typeface="Arial"/>
              <a:sym typeface="Arial"/>
            </a:endParaRPr>
          </a:p>
          <a:p>
            <a:pPr marL="675640" lvl="1" indent="-337820" algn="just">
              <a:lnSpc>
                <a:spcPts val="3359"/>
              </a:lnSpc>
              <a:buFont typeface="Arial"/>
              <a:buChar char="•"/>
            </a:pPr>
            <a:r>
              <a:rPr lang="en-US" sz="2799" b="1">
                <a:solidFill>
                  <a:srgbClr val="202A41"/>
                </a:solidFill>
                <a:latin typeface="Arial Bold"/>
                <a:ea typeface="Arial Bold"/>
                <a:cs typeface="Arial Bold"/>
                <a:sym typeface="Arial Bold"/>
              </a:rPr>
              <a:t>Performance</a:t>
            </a:r>
          </a:p>
          <a:p>
            <a:pPr marL="675639" lvl="1" indent="-337820" algn="just">
              <a:lnSpc>
                <a:spcPts val="3359"/>
              </a:lnSpc>
              <a:buFont typeface="Arial"/>
              <a:buChar char="•"/>
            </a:pPr>
            <a:r>
              <a:rPr lang="en-US" sz="2799">
                <a:solidFill>
                  <a:srgbClr val="202A41"/>
                </a:solidFill>
                <a:latin typeface="Arial"/>
                <a:ea typeface="Arial"/>
                <a:cs typeface="Arial"/>
                <a:sym typeface="Arial"/>
              </a:rPr>
              <a:t>Trips on time, delayed, or cancelled</a:t>
            </a:r>
          </a:p>
          <a:p>
            <a:pPr marL="675639" lvl="1" indent="-337820" algn="just">
              <a:lnSpc>
                <a:spcPts val="3359"/>
              </a:lnSpc>
              <a:buFont typeface="Arial"/>
              <a:buChar char="•"/>
            </a:pPr>
            <a:r>
              <a:rPr lang="en-US" sz="2799">
                <a:solidFill>
                  <a:srgbClr val="202A41"/>
                </a:solidFill>
                <a:latin typeface="Arial"/>
                <a:ea typeface="Arial"/>
                <a:cs typeface="Arial"/>
                <a:sym typeface="Arial"/>
              </a:rPr>
              <a:t>Reasons for delays and cancellations</a:t>
            </a:r>
          </a:p>
          <a:p>
            <a:pPr marL="675639" lvl="1" indent="-337820" algn="just">
              <a:lnSpc>
                <a:spcPts val="3359"/>
              </a:lnSpc>
              <a:buFont typeface="Arial"/>
              <a:buChar char="•"/>
            </a:pPr>
            <a:r>
              <a:rPr lang="en-US" sz="2799">
                <a:solidFill>
                  <a:srgbClr val="202A41"/>
                </a:solidFill>
                <a:latin typeface="Arial"/>
                <a:ea typeface="Arial"/>
                <a:cs typeface="Arial"/>
                <a:sym typeface="Arial"/>
              </a:rPr>
              <a:t>Average delay time</a:t>
            </a:r>
          </a:p>
          <a:p>
            <a:pPr marL="675640" lvl="1" indent="-337820" algn="just">
              <a:lnSpc>
                <a:spcPts val="3359"/>
              </a:lnSpc>
              <a:buFont typeface="Arial"/>
              <a:buChar char="•"/>
            </a:pPr>
            <a:r>
              <a:rPr lang="en-US" sz="2799">
                <a:solidFill>
                  <a:srgbClr val="202A41"/>
                </a:solidFill>
                <a:latin typeface="Arial"/>
                <a:ea typeface="Arial"/>
                <a:cs typeface="Arial"/>
                <a:sym typeface="Arial"/>
              </a:rPr>
              <a:t>Percentage and amount of refund requests</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a:grpSpLocks noChangeAspect="1"/>
          </p:cNvGrpSpPr>
          <p:nvPr/>
        </p:nvGrpSpPr>
        <p:grpSpPr>
          <a:xfrm>
            <a:off x="-5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6" name="Group 6"/>
          <p:cNvGrpSpPr>
            <a:grpSpLocks noChangeAspect="1"/>
          </p:cNvGrpSpPr>
          <p:nvPr/>
        </p:nvGrpSpPr>
        <p:grpSpPr>
          <a:xfrm rot="-5400000">
            <a:off x="-290248" y="7165504"/>
            <a:ext cx="3433390" cy="2615894"/>
            <a:chOff x="0" y="0"/>
            <a:chExt cx="4577853" cy="3487859"/>
          </a:xfrm>
        </p:grpSpPr>
        <p:sp>
          <p:nvSpPr>
            <p:cNvPr id="7" name="Freeform 7"/>
            <p:cNvSpPr/>
            <p:nvPr/>
          </p:nvSpPr>
          <p:spPr>
            <a:xfrm>
              <a:off x="0" y="0"/>
              <a:ext cx="4577842" cy="3487801"/>
            </a:xfrm>
            <a:custGeom>
              <a:avLst/>
              <a:gdLst/>
              <a:ahLst/>
              <a:cxnLst/>
              <a:rect l="l" t="t" r="r" b="b"/>
              <a:pathLst>
                <a:path w="4577842" h="3487801">
                  <a:moveTo>
                    <a:pt x="0" y="0"/>
                  </a:moveTo>
                  <a:lnTo>
                    <a:pt x="4577842" y="0"/>
                  </a:lnTo>
                  <a:lnTo>
                    <a:pt x="4577842" y="3487801"/>
                  </a:lnTo>
                  <a:lnTo>
                    <a:pt x="0" y="3487801"/>
                  </a:lnTo>
                  <a:lnTo>
                    <a:pt x="0" y="0"/>
                  </a:lnTo>
                  <a:close/>
                </a:path>
              </a:pathLst>
            </a:custGeom>
            <a:blipFill>
              <a:blip r:embed="rId3"/>
              <a:stretch>
                <a:fillRect t="-129" b="-133"/>
              </a:stretch>
            </a:blipFill>
          </p:spPr>
          <p:txBody>
            <a:bodyPr/>
            <a:lstStyle/>
            <a:p>
              <a:endParaRPr lang="en-US"/>
            </a:p>
          </p:txBody>
        </p:sp>
      </p:grpSp>
      <p:grpSp>
        <p:nvGrpSpPr>
          <p:cNvPr id="8" name="Group 8"/>
          <p:cNvGrpSpPr>
            <a:grpSpLocks noChangeAspect="1"/>
          </p:cNvGrpSpPr>
          <p:nvPr/>
        </p:nvGrpSpPr>
        <p:grpSpPr>
          <a:xfrm>
            <a:off x="15812176" y="-27300"/>
            <a:ext cx="2503100" cy="2503100"/>
            <a:chOff x="0" y="0"/>
            <a:chExt cx="3337467" cy="3337467"/>
          </a:xfrm>
        </p:grpSpPr>
        <p:sp>
          <p:nvSpPr>
            <p:cNvPr id="9" name="Freeform 9"/>
            <p:cNvSpPr/>
            <p:nvPr/>
          </p:nvSpPr>
          <p:spPr>
            <a:xfrm>
              <a:off x="0" y="0"/>
              <a:ext cx="3337433" cy="3337433"/>
            </a:xfrm>
            <a:custGeom>
              <a:avLst/>
              <a:gdLst/>
              <a:ahLst/>
              <a:cxnLst/>
              <a:rect l="l" t="t" r="r" b="b"/>
              <a:pathLst>
                <a:path w="3337433" h="3337433">
                  <a:moveTo>
                    <a:pt x="0" y="0"/>
                  </a:moveTo>
                  <a:lnTo>
                    <a:pt x="3337433" y="0"/>
                  </a:lnTo>
                  <a:lnTo>
                    <a:pt x="3337433" y="3337433"/>
                  </a:lnTo>
                  <a:lnTo>
                    <a:pt x="0" y="3337433"/>
                  </a:lnTo>
                  <a:lnTo>
                    <a:pt x="0" y="0"/>
                  </a:lnTo>
                  <a:close/>
                </a:path>
              </a:pathLst>
            </a:custGeom>
            <a:blipFill>
              <a:blip r:embed="rId4"/>
              <a:stretch>
                <a:fillRect r="-1" b="-1"/>
              </a:stretch>
            </a:blipFill>
          </p:spPr>
          <p:txBody>
            <a:bodyPr/>
            <a:lstStyle/>
            <a:p>
              <a:endParaRPr lang="en-US"/>
            </a:p>
          </p:txBody>
        </p:sp>
      </p:grpSp>
      <p:grpSp>
        <p:nvGrpSpPr>
          <p:cNvPr id="10" name="Group 10"/>
          <p:cNvGrpSpPr>
            <a:grpSpLocks noChangeAspect="1"/>
          </p:cNvGrpSpPr>
          <p:nvPr/>
        </p:nvGrpSpPr>
        <p:grpSpPr>
          <a:xfrm rot="-10800000">
            <a:off x="14586776" y="9681960"/>
            <a:ext cx="3170928" cy="138000"/>
            <a:chOff x="0" y="0"/>
            <a:chExt cx="4227904" cy="184000"/>
          </a:xfrm>
        </p:grpSpPr>
        <p:sp>
          <p:nvSpPr>
            <p:cNvPr id="11" name="Freeform 11"/>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12" name="Group 12"/>
          <p:cNvGrpSpPr>
            <a:grpSpLocks noChangeAspect="1"/>
          </p:cNvGrpSpPr>
          <p:nvPr/>
        </p:nvGrpSpPr>
        <p:grpSpPr>
          <a:xfrm>
            <a:off x="0" y="-27276"/>
            <a:ext cx="13047052" cy="1072100"/>
            <a:chOff x="0" y="0"/>
            <a:chExt cx="17396069" cy="1429467"/>
          </a:xfrm>
        </p:grpSpPr>
        <p:sp>
          <p:nvSpPr>
            <p:cNvPr id="13" name="Freeform 13"/>
            <p:cNvSpPr/>
            <p:nvPr/>
          </p:nvSpPr>
          <p:spPr>
            <a:xfrm>
              <a:off x="0" y="0"/>
              <a:ext cx="17396079" cy="1429512"/>
            </a:xfrm>
            <a:custGeom>
              <a:avLst/>
              <a:gdLst/>
              <a:ahLst/>
              <a:cxnLst/>
              <a:rect l="l" t="t" r="r" b="b"/>
              <a:pathLst>
                <a:path w="17396079" h="1429512">
                  <a:moveTo>
                    <a:pt x="0" y="0"/>
                  </a:moveTo>
                  <a:lnTo>
                    <a:pt x="17396079" y="0"/>
                  </a:lnTo>
                  <a:lnTo>
                    <a:pt x="17396079" y="1429512"/>
                  </a:lnTo>
                  <a:lnTo>
                    <a:pt x="0" y="1429512"/>
                  </a:lnTo>
                  <a:lnTo>
                    <a:pt x="0" y="0"/>
                  </a:lnTo>
                  <a:close/>
                </a:path>
              </a:pathLst>
            </a:custGeom>
            <a:blipFill>
              <a:blip r:embed="rId6"/>
              <a:stretch>
                <a:fillRect t="-21939" b="-21936"/>
              </a:stretch>
            </a:blipFill>
          </p:spPr>
          <p:txBody>
            <a:bodyPr/>
            <a:lstStyle/>
            <a:p>
              <a:endParaRPr lang="en-US"/>
            </a:p>
          </p:txBody>
        </p:sp>
      </p:grpSp>
      <p:grpSp>
        <p:nvGrpSpPr>
          <p:cNvPr id="14" name="Group 14"/>
          <p:cNvGrpSpPr>
            <a:grpSpLocks noChangeAspect="1"/>
          </p:cNvGrpSpPr>
          <p:nvPr/>
        </p:nvGrpSpPr>
        <p:grpSpPr>
          <a:xfrm>
            <a:off x="530250" y="465936"/>
            <a:ext cx="3170928" cy="138000"/>
            <a:chOff x="0" y="0"/>
            <a:chExt cx="4227904" cy="184000"/>
          </a:xfrm>
        </p:grpSpPr>
        <p:sp>
          <p:nvSpPr>
            <p:cNvPr id="15" name="Freeform 15"/>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sp>
        <p:nvSpPr>
          <p:cNvPr id="16" name="TextBox 16"/>
          <p:cNvSpPr txBox="1"/>
          <p:nvPr/>
        </p:nvSpPr>
        <p:spPr>
          <a:xfrm>
            <a:off x="1531425" y="1103750"/>
            <a:ext cx="15225150" cy="1029225"/>
          </a:xfrm>
          <a:prstGeom prst="rect">
            <a:avLst/>
          </a:prstGeom>
        </p:spPr>
        <p:txBody>
          <a:bodyPr lIns="0" tIns="0" rIns="0" bIns="0" rtlCol="0" anchor="t">
            <a:spAutoFit/>
          </a:bodyPr>
          <a:lstStyle/>
          <a:p>
            <a:pPr algn="ctr">
              <a:lnSpc>
                <a:spcPts val="7200"/>
              </a:lnSpc>
            </a:pPr>
            <a:r>
              <a:rPr lang="en-US" sz="6000" b="1">
                <a:solidFill>
                  <a:srgbClr val="202A41"/>
                </a:solidFill>
                <a:latin typeface="Poppins Bold"/>
                <a:ea typeface="Poppins Bold"/>
                <a:cs typeface="Poppins Bold"/>
                <a:sym typeface="Poppins Bold"/>
              </a:rPr>
              <a:t>Visuals</a:t>
            </a:r>
          </a:p>
        </p:txBody>
      </p:sp>
      <p:grpSp>
        <p:nvGrpSpPr>
          <p:cNvPr id="17" name="Group 17"/>
          <p:cNvGrpSpPr>
            <a:grpSpLocks noChangeAspect="1"/>
          </p:cNvGrpSpPr>
          <p:nvPr/>
        </p:nvGrpSpPr>
        <p:grpSpPr>
          <a:xfrm>
            <a:off x="3789802" y="2450564"/>
            <a:ext cx="3657600" cy="3314700"/>
            <a:chOff x="0" y="0"/>
            <a:chExt cx="4876800" cy="4419600"/>
          </a:xfrm>
        </p:grpSpPr>
        <p:sp>
          <p:nvSpPr>
            <p:cNvPr id="18" name="Freeform 18"/>
            <p:cNvSpPr/>
            <p:nvPr/>
          </p:nvSpPr>
          <p:spPr>
            <a:xfrm>
              <a:off x="0" y="0"/>
              <a:ext cx="4876800" cy="4419600"/>
            </a:xfrm>
            <a:custGeom>
              <a:avLst/>
              <a:gdLst/>
              <a:ahLst/>
              <a:cxnLst/>
              <a:rect l="l" t="t" r="r" b="b"/>
              <a:pathLst>
                <a:path w="4876800" h="4419600">
                  <a:moveTo>
                    <a:pt x="0" y="0"/>
                  </a:moveTo>
                  <a:lnTo>
                    <a:pt x="4876800" y="0"/>
                  </a:lnTo>
                  <a:lnTo>
                    <a:pt x="4876800" y="4419600"/>
                  </a:lnTo>
                  <a:lnTo>
                    <a:pt x="0" y="4419600"/>
                  </a:lnTo>
                  <a:lnTo>
                    <a:pt x="0" y="0"/>
                  </a:lnTo>
                  <a:close/>
                </a:path>
              </a:pathLst>
            </a:custGeom>
            <a:blipFill>
              <a:blip r:embed="rId7"/>
              <a:stretch>
                <a:fillRect/>
              </a:stretch>
            </a:blipFill>
          </p:spPr>
          <p:txBody>
            <a:bodyPr/>
            <a:lstStyle/>
            <a:p>
              <a:endParaRPr lang="en-US"/>
            </a:p>
          </p:txBody>
        </p:sp>
      </p:grpSp>
      <p:grpSp>
        <p:nvGrpSpPr>
          <p:cNvPr id="19" name="Group 19"/>
          <p:cNvGrpSpPr>
            <a:grpSpLocks noChangeAspect="1"/>
          </p:cNvGrpSpPr>
          <p:nvPr/>
        </p:nvGrpSpPr>
        <p:grpSpPr>
          <a:xfrm>
            <a:off x="11136102" y="2602964"/>
            <a:ext cx="4476750" cy="3009900"/>
            <a:chOff x="0" y="0"/>
            <a:chExt cx="5969000" cy="4013200"/>
          </a:xfrm>
        </p:grpSpPr>
        <p:sp>
          <p:nvSpPr>
            <p:cNvPr id="20" name="Freeform 20"/>
            <p:cNvSpPr/>
            <p:nvPr/>
          </p:nvSpPr>
          <p:spPr>
            <a:xfrm>
              <a:off x="0" y="0"/>
              <a:ext cx="5969000" cy="4013200"/>
            </a:xfrm>
            <a:custGeom>
              <a:avLst/>
              <a:gdLst/>
              <a:ahLst/>
              <a:cxnLst/>
              <a:rect l="l" t="t" r="r" b="b"/>
              <a:pathLst>
                <a:path w="5969000" h="4013200">
                  <a:moveTo>
                    <a:pt x="0" y="0"/>
                  </a:moveTo>
                  <a:lnTo>
                    <a:pt x="5969000" y="0"/>
                  </a:lnTo>
                  <a:lnTo>
                    <a:pt x="5969000" y="4013200"/>
                  </a:lnTo>
                  <a:lnTo>
                    <a:pt x="0" y="4013200"/>
                  </a:lnTo>
                  <a:lnTo>
                    <a:pt x="0" y="0"/>
                  </a:lnTo>
                  <a:close/>
                </a:path>
              </a:pathLst>
            </a:custGeom>
            <a:blipFill>
              <a:blip r:embed="rId8"/>
              <a:stretch>
                <a:fillRect/>
              </a:stretch>
            </a:blipFill>
          </p:spPr>
          <p:txBody>
            <a:bodyPr/>
            <a:lstStyle/>
            <a:p>
              <a:endParaRPr lang="en-US"/>
            </a:p>
          </p:txBody>
        </p:sp>
      </p:grpSp>
      <p:grpSp>
        <p:nvGrpSpPr>
          <p:cNvPr id="21" name="Group 21"/>
          <p:cNvGrpSpPr>
            <a:grpSpLocks noChangeAspect="1"/>
          </p:cNvGrpSpPr>
          <p:nvPr/>
        </p:nvGrpSpPr>
        <p:grpSpPr>
          <a:xfrm>
            <a:off x="4693184" y="5991428"/>
            <a:ext cx="8901630" cy="3939626"/>
            <a:chOff x="0" y="0"/>
            <a:chExt cx="11868840" cy="5252835"/>
          </a:xfrm>
        </p:grpSpPr>
        <p:sp>
          <p:nvSpPr>
            <p:cNvPr id="22" name="Freeform 22"/>
            <p:cNvSpPr/>
            <p:nvPr/>
          </p:nvSpPr>
          <p:spPr>
            <a:xfrm>
              <a:off x="0" y="0"/>
              <a:ext cx="11868785" cy="5252847"/>
            </a:xfrm>
            <a:custGeom>
              <a:avLst/>
              <a:gdLst/>
              <a:ahLst/>
              <a:cxnLst/>
              <a:rect l="l" t="t" r="r" b="b"/>
              <a:pathLst>
                <a:path w="11868785" h="5252847">
                  <a:moveTo>
                    <a:pt x="0" y="0"/>
                  </a:moveTo>
                  <a:lnTo>
                    <a:pt x="11868785" y="0"/>
                  </a:lnTo>
                  <a:lnTo>
                    <a:pt x="11868785" y="5252847"/>
                  </a:lnTo>
                  <a:lnTo>
                    <a:pt x="0" y="5252847"/>
                  </a:lnTo>
                  <a:lnTo>
                    <a:pt x="0" y="0"/>
                  </a:lnTo>
                  <a:close/>
                </a:path>
              </a:pathLst>
            </a:custGeom>
            <a:blipFill>
              <a:blip r:embed="rId9"/>
              <a:stretch>
                <a:fillRect l="-226"/>
              </a:stretch>
            </a:blipFill>
          </p:spPr>
          <p:txBody>
            <a:bodyPr/>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a:grpSpLocks noChangeAspect="1"/>
          </p:cNvGrpSpPr>
          <p:nvPr/>
        </p:nvGrpSpPr>
        <p:grpSpPr>
          <a:xfrm rot="-5400000">
            <a:off x="-1611504" y="8661943"/>
            <a:ext cx="3433390" cy="2615894"/>
            <a:chOff x="0" y="0"/>
            <a:chExt cx="4577853" cy="3487859"/>
          </a:xfrm>
        </p:grpSpPr>
        <p:sp>
          <p:nvSpPr>
            <p:cNvPr id="5" name="Freeform 5"/>
            <p:cNvSpPr/>
            <p:nvPr/>
          </p:nvSpPr>
          <p:spPr>
            <a:xfrm>
              <a:off x="0" y="0"/>
              <a:ext cx="4577842" cy="3487801"/>
            </a:xfrm>
            <a:custGeom>
              <a:avLst/>
              <a:gdLst/>
              <a:ahLst/>
              <a:cxnLst/>
              <a:rect l="l" t="t" r="r" b="b"/>
              <a:pathLst>
                <a:path w="4577842" h="3487801">
                  <a:moveTo>
                    <a:pt x="0" y="0"/>
                  </a:moveTo>
                  <a:lnTo>
                    <a:pt x="4577842" y="0"/>
                  </a:lnTo>
                  <a:lnTo>
                    <a:pt x="4577842" y="3487801"/>
                  </a:lnTo>
                  <a:lnTo>
                    <a:pt x="0" y="3487801"/>
                  </a:lnTo>
                  <a:lnTo>
                    <a:pt x="0" y="0"/>
                  </a:lnTo>
                  <a:close/>
                </a:path>
              </a:pathLst>
            </a:custGeom>
            <a:blipFill>
              <a:blip r:embed="rId3"/>
              <a:stretch>
                <a:fillRect t="-129" b="-133"/>
              </a:stretch>
            </a:blipFill>
          </p:spPr>
          <p:txBody>
            <a:bodyPr/>
            <a:lstStyle/>
            <a:p>
              <a:endParaRPr lang="en-US"/>
            </a:p>
          </p:txBody>
        </p:sp>
      </p:grpSp>
      <p:grpSp>
        <p:nvGrpSpPr>
          <p:cNvPr id="6" name="Group 6"/>
          <p:cNvGrpSpPr>
            <a:grpSpLocks noChangeAspect="1"/>
          </p:cNvGrpSpPr>
          <p:nvPr/>
        </p:nvGrpSpPr>
        <p:grpSpPr>
          <a:xfrm>
            <a:off x="15812176" y="-27300"/>
            <a:ext cx="2503100" cy="2503100"/>
            <a:chOff x="0" y="0"/>
            <a:chExt cx="3337467" cy="3337467"/>
          </a:xfrm>
        </p:grpSpPr>
        <p:sp>
          <p:nvSpPr>
            <p:cNvPr id="7" name="Freeform 7"/>
            <p:cNvSpPr/>
            <p:nvPr/>
          </p:nvSpPr>
          <p:spPr>
            <a:xfrm>
              <a:off x="0" y="0"/>
              <a:ext cx="3337433" cy="3337433"/>
            </a:xfrm>
            <a:custGeom>
              <a:avLst/>
              <a:gdLst/>
              <a:ahLst/>
              <a:cxnLst/>
              <a:rect l="l" t="t" r="r" b="b"/>
              <a:pathLst>
                <a:path w="3337433" h="3337433">
                  <a:moveTo>
                    <a:pt x="0" y="0"/>
                  </a:moveTo>
                  <a:lnTo>
                    <a:pt x="3337433" y="0"/>
                  </a:lnTo>
                  <a:lnTo>
                    <a:pt x="3337433" y="3337433"/>
                  </a:lnTo>
                  <a:lnTo>
                    <a:pt x="0" y="3337433"/>
                  </a:lnTo>
                  <a:lnTo>
                    <a:pt x="0" y="0"/>
                  </a:lnTo>
                  <a:close/>
                </a:path>
              </a:pathLst>
            </a:custGeom>
            <a:blipFill>
              <a:blip r:embed="rId4"/>
              <a:stretch>
                <a:fillRect r="-1" b="-1"/>
              </a:stretch>
            </a:blipFill>
          </p:spPr>
          <p:txBody>
            <a:bodyPr/>
            <a:lstStyle/>
            <a:p>
              <a:endParaRPr lang="en-US"/>
            </a:p>
          </p:txBody>
        </p:sp>
      </p:grpSp>
      <p:grpSp>
        <p:nvGrpSpPr>
          <p:cNvPr id="8" name="Group 8"/>
          <p:cNvGrpSpPr>
            <a:grpSpLocks noChangeAspect="1"/>
          </p:cNvGrpSpPr>
          <p:nvPr/>
        </p:nvGrpSpPr>
        <p:grpSpPr>
          <a:xfrm rot="-10800000">
            <a:off x="14586776" y="9681960"/>
            <a:ext cx="3170928" cy="138000"/>
            <a:chOff x="0" y="0"/>
            <a:chExt cx="4227904" cy="184000"/>
          </a:xfrm>
        </p:grpSpPr>
        <p:sp>
          <p:nvSpPr>
            <p:cNvPr id="9" name="Freeform 9"/>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10" name="Group 10"/>
          <p:cNvGrpSpPr>
            <a:grpSpLocks noChangeAspect="1"/>
          </p:cNvGrpSpPr>
          <p:nvPr/>
        </p:nvGrpSpPr>
        <p:grpSpPr>
          <a:xfrm>
            <a:off x="0" y="-27276"/>
            <a:ext cx="13047052" cy="1072100"/>
            <a:chOff x="0" y="0"/>
            <a:chExt cx="17396069" cy="1429467"/>
          </a:xfrm>
        </p:grpSpPr>
        <p:sp>
          <p:nvSpPr>
            <p:cNvPr id="11" name="Freeform 11"/>
            <p:cNvSpPr/>
            <p:nvPr/>
          </p:nvSpPr>
          <p:spPr>
            <a:xfrm>
              <a:off x="0" y="0"/>
              <a:ext cx="17396079" cy="1429512"/>
            </a:xfrm>
            <a:custGeom>
              <a:avLst/>
              <a:gdLst/>
              <a:ahLst/>
              <a:cxnLst/>
              <a:rect l="l" t="t" r="r" b="b"/>
              <a:pathLst>
                <a:path w="17396079" h="1429512">
                  <a:moveTo>
                    <a:pt x="0" y="0"/>
                  </a:moveTo>
                  <a:lnTo>
                    <a:pt x="17396079" y="0"/>
                  </a:lnTo>
                  <a:lnTo>
                    <a:pt x="17396079" y="1429512"/>
                  </a:lnTo>
                  <a:lnTo>
                    <a:pt x="0" y="1429512"/>
                  </a:lnTo>
                  <a:lnTo>
                    <a:pt x="0" y="0"/>
                  </a:lnTo>
                  <a:close/>
                </a:path>
              </a:pathLst>
            </a:custGeom>
            <a:blipFill>
              <a:blip r:embed="rId6"/>
              <a:stretch>
                <a:fillRect t="-21939" b="-21936"/>
              </a:stretch>
            </a:blipFill>
          </p:spPr>
          <p:txBody>
            <a:bodyPr/>
            <a:lstStyle/>
            <a:p>
              <a:endParaRPr lang="en-US"/>
            </a:p>
          </p:txBody>
        </p:sp>
      </p:grpSp>
      <p:grpSp>
        <p:nvGrpSpPr>
          <p:cNvPr id="12" name="Group 12"/>
          <p:cNvGrpSpPr>
            <a:grpSpLocks noChangeAspect="1"/>
          </p:cNvGrpSpPr>
          <p:nvPr/>
        </p:nvGrpSpPr>
        <p:grpSpPr>
          <a:xfrm>
            <a:off x="530250" y="465936"/>
            <a:ext cx="3170928" cy="138000"/>
            <a:chOff x="0" y="0"/>
            <a:chExt cx="4227904" cy="184000"/>
          </a:xfrm>
        </p:grpSpPr>
        <p:sp>
          <p:nvSpPr>
            <p:cNvPr id="13" name="Freeform 13"/>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sp>
        <p:nvSpPr>
          <p:cNvPr id="14" name="Freeform 14"/>
          <p:cNvSpPr/>
          <p:nvPr/>
        </p:nvSpPr>
        <p:spPr>
          <a:xfrm>
            <a:off x="331587" y="1327253"/>
            <a:ext cx="8448096" cy="3442599"/>
          </a:xfrm>
          <a:custGeom>
            <a:avLst/>
            <a:gdLst/>
            <a:ahLst/>
            <a:cxnLst/>
            <a:rect l="l" t="t" r="r" b="b"/>
            <a:pathLst>
              <a:path w="8448096" h="3442599">
                <a:moveTo>
                  <a:pt x="0" y="0"/>
                </a:moveTo>
                <a:lnTo>
                  <a:pt x="8448096" y="0"/>
                </a:lnTo>
                <a:lnTo>
                  <a:pt x="8448096" y="3442599"/>
                </a:lnTo>
                <a:lnTo>
                  <a:pt x="0" y="3442599"/>
                </a:lnTo>
                <a:lnTo>
                  <a:pt x="0" y="0"/>
                </a:lnTo>
                <a:close/>
              </a:path>
            </a:pathLst>
          </a:custGeom>
          <a:blipFill>
            <a:blip r:embed="rId7"/>
            <a:stretch>
              <a:fillRect/>
            </a:stretch>
          </a:blipFill>
        </p:spPr>
        <p:txBody>
          <a:bodyPr/>
          <a:lstStyle/>
          <a:p>
            <a:endParaRPr lang="en-US"/>
          </a:p>
        </p:txBody>
      </p:sp>
      <p:sp>
        <p:nvSpPr>
          <p:cNvPr id="15" name="TextBox 15"/>
          <p:cNvSpPr txBox="1"/>
          <p:nvPr/>
        </p:nvSpPr>
        <p:spPr>
          <a:xfrm>
            <a:off x="540026" y="6502263"/>
            <a:ext cx="8902098" cy="1695450"/>
          </a:xfrm>
          <a:prstGeom prst="rect">
            <a:avLst/>
          </a:prstGeom>
        </p:spPr>
        <p:txBody>
          <a:bodyPr lIns="0" tIns="0" rIns="0" bIns="0" rtlCol="0" anchor="t">
            <a:spAutoFit/>
          </a:bodyPr>
          <a:lstStyle/>
          <a:p>
            <a:pPr marL="604520" lvl="1" indent="-302260" algn="just">
              <a:lnSpc>
                <a:spcPts val="3359"/>
              </a:lnSpc>
              <a:buFont typeface="Arial"/>
              <a:buChar char="•"/>
            </a:pPr>
            <a:r>
              <a:rPr lang="en-US" sz="2799" b="1" dirty="0">
                <a:solidFill>
                  <a:srgbClr val="202A41"/>
                </a:solidFill>
                <a:latin typeface="Arial Bold"/>
                <a:ea typeface="Arial Bold"/>
                <a:cs typeface="Arial Bold"/>
                <a:sym typeface="Arial Bold"/>
              </a:rPr>
              <a:t>how different cancellation reasons contribute to the total refund amount, with staff shortage and signal failure having the highest impact.</a:t>
            </a:r>
          </a:p>
          <a:p>
            <a:pPr algn="just">
              <a:lnSpc>
                <a:spcPts val="3359"/>
              </a:lnSpc>
            </a:pPr>
            <a:endParaRPr lang="en-US" sz="2799" b="1" dirty="0">
              <a:solidFill>
                <a:srgbClr val="202A41"/>
              </a:solidFill>
              <a:latin typeface="Arial Bold"/>
              <a:ea typeface="Arial Bold"/>
              <a:cs typeface="Arial Bold"/>
              <a:sym typeface="Arial Bold"/>
            </a:endParaRPr>
          </a:p>
        </p:txBody>
      </p:sp>
      <p:sp>
        <p:nvSpPr>
          <p:cNvPr id="16" name="TextBox 16"/>
          <p:cNvSpPr txBox="1"/>
          <p:nvPr/>
        </p:nvSpPr>
        <p:spPr>
          <a:xfrm>
            <a:off x="9144000" y="2777269"/>
            <a:ext cx="8613704" cy="504468"/>
          </a:xfrm>
          <a:prstGeom prst="rect">
            <a:avLst/>
          </a:prstGeom>
        </p:spPr>
        <p:txBody>
          <a:bodyPr lIns="0" tIns="0" rIns="0" bIns="0" rtlCol="0" anchor="t">
            <a:spAutoFit/>
          </a:bodyPr>
          <a:lstStyle/>
          <a:p>
            <a:pPr algn="ctr">
              <a:lnSpc>
                <a:spcPts val="3726"/>
              </a:lnSpc>
              <a:spcBef>
                <a:spcPct val="0"/>
              </a:spcBef>
            </a:pPr>
            <a:r>
              <a:rPr lang="en-US" sz="3105" b="1">
                <a:solidFill>
                  <a:srgbClr val="000000"/>
                </a:solidFill>
                <a:latin typeface="Poppins Bold"/>
                <a:ea typeface="Poppins Bold"/>
                <a:cs typeface="Poppins Bold"/>
                <a:sym typeface="Poppins Bold"/>
              </a:rPr>
              <a:t>Funnel Shape Shows Reasons For Delay</a:t>
            </a:r>
          </a:p>
        </p:txBody>
      </p:sp>
      <p:sp>
        <p:nvSpPr>
          <p:cNvPr id="17" name="Freeform 17"/>
          <p:cNvSpPr/>
          <p:nvPr/>
        </p:nvSpPr>
        <p:spPr>
          <a:xfrm>
            <a:off x="9982200" y="5303833"/>
            <a:ext cx="7435559" cy="3586025"/>
          </a:xfrm>
          <a:custGeom>
            <a:avLst/>
            <a:gdLst/>
            <a:ahLst/>
            <a:cxnLst/>
            <a:rect l="l" t="t" r="r" b="b"/>
            <a:pathLst>
              <a:path w="7435559" h="3586025">
                <a:moveTo>
                  <a:pt x="0" y="0"/>
                </a:moveTo>
                <a:lnTo>
                  <a:pt x="7435559" y="0"/>
                </a:lnTo>
                <a:lnTo>
                  <a:pt x="7435559" y="3586025"/>
                </a:lnTo>
                <a:lnTo>
                  <a:pt x="0" y="3586025"/>
                </a:lnTo>
                <a:lnTo>
                  <a:pt x="0" y="0"/>
                </a:lnTo>
                <a:close/>
              </a:path>
            </a:pathLst>
          </a:custGeom>
          <a:blipFill>
            <a:blip r:embed="rId8">
              <a:alphaModFix amt="95000"/>
            </a:blip>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a:grpSpLocks noChangeAspect="1"/>
          </p:cNvGrpSpPr>
          <p:nvPr/>
        </p:nvGrpSpPr>
        <p:grpSpPr>
          <a:xfrm rot="-5400000">
            <a:off x="-290248" y="7165504"/>
            <a:ext cx="3433390" cy="2615894"/>
            <a:chOff x="0" y="0"/>
            <a:chExt cx="4577853" cy="3487859"/>
          </a:xfrm>
        </p:grpSpPr>
        <p:sp>
          <p:nvSpPr>
            <p:cNvPr id="5" name="Freeform 5"/>
            <p:cNvSpPr/>
            <p:nvPr/>
          </p:nvSpPr>
          <p:spPr>
            <a:xfrm>
              <a:off x="0" y="0"/>
              <a:ext cx="4577842" cy="3487801"/>
            </a:xfrm>
            <a:custGeom>
              <a:avLst/>
              <a:gdLst/>
              <a:ahLst/>
              <a:cxnLst/>
              <a:rect l="l" t="t" r="r" b="b"/>
              <a:pathLst>
                <a:path w="4577842" h="3487801">
                  <a:moveTo>
                    <a:pt x="0" y="0"/>
                  </a:moveTo>
                  <a:lnTo>
                    <a:pt x="4577842" y="0"/>
                  </a:lnTo>
                  <a:lnTo>
                    <a:pt x="4577842" y="3487801"/>
                  </a:lnTo>
                  <a:lnTo>
                    <a:pt x="0" y="3487801"/>
                  </a:lnTo>
                  <a:lnTo>
                    <a:pt x="0" y="0"/>
                  </a:lnTo>
                  <a:close/>
                </a:path>
              </a:pathLst>
            </a:custGeom>
            <a:blipFill>
              <a:blip r:embed="rId3"/>
              <a:stretch>
                <a:fillRect t="-129" b="-133"/>
              </a:stretch>
            </a:blipFill>
          </p:spPr>
          <p:txBody>
            <a:bodyPr/>
            <a:lstStyle/>
            <a:p>
              <a:endParaRPr lang="en-US"/>
            </a:p>
          </p:txBody>
        </p:sp>
      </p:grpSp>
      <p:grpSp>
        <p:nvGrpSpPr>
          <p:cNvPr id="6" name="Group 6"/>
          <p:cNvGrpSpPr>
            <a:grpSpLocks noChangeAspect="1"/>
          </p:cNvGrpSpPr>
          <p:nvPr/>
        </p:nvGrpSpPr>
        <p:grpSpPr>
          <a:xfrm>
            <a:off x="15812176" y="-27300"/>
            <a:ext cx="2503100" cy="2503100"/>
            <a:chOff x="0" y="0"/>
            <a:chExt cx="3337467" cy="3337467"/>
          </a:xfrm>
        </p:grpSpPr>
        <p:sp>
          <p:nvSpPr>
            <p:cNvPr id="7" name="Freeform 7"/>
            <p:cNvSpPr/>
            <p:nvPr/>
          </p:nvSpPr>
          <p:spPr>
            <a:xfrm>
              <a:off x="0" y="0"/>
              <a:ext cx="3337433" cy="3337433"/>
            </a:xfrm>
            <a:custGeom>
              <a:avLst/>
              <a:gdLst/>
              <a:ahLst/>
              <a:cxnLst/>
              <a:rect l="l" t="t" r="r" b="b"/>
              <a:pathLst>
                <a:path w="3337433" h="3337433">
                  <a:moveTo>
                    <a:pt x="0" y="0"/>
                  </a:moveTo>
                  <a:lnTo>
                    <a:pt x="3337433" y="0"/>
                  </a:lnTo>
                  <a:lnTo>
                    <a:pt x="3337433" y="3337433"/>
                  </a:lnTo>
                  <a:lnTo>
                    <a:pt x="0" y="3337433"/>
                  </a:lnTo>
                  <a:lnTo>
                    <a:pt x="0" y="0"/>
                  </a:lnTo>
                  <a:close/>
                </a:path>
              </a:pathLst>
            </a:custGeom>
            <a:blipFill>
              <a:blip r:embed="rId4"/>
              <a:stretch>
                <a:fillRect r="-1" b="-1"/>
              </a:stretch>
            </a:blipFill>
          </p:spPr>
          <p:txBody>
            <a:bodyPr/>
            <a:lstStyle/>
            <a:p>
              <a:endParaRPr lang="en-US"/>
            </a:p>
          </p:txBody>
        </p:sp>
      </p:grpSp>
      <p:grpSp>
        <p:nvGrpSpPr>
          <p:cNvPr id="8" name="Group 8"/>
          <p:cNvGrpSpPr>
            <a:grpSpLocks noChangeAspect="1"/>
          </p:cNvGrpSpPr>
          <p:nvPr/>
        </p:nvGrpSpPr>
        <p:grpSpPr>
          <a:xfrm rot="-10800000">
            <a:off x="14586776" y="9681960"/>
            <a:ext cx="3170928" cy="138000"/>
            <a:chOff x="0" y="0"/>
            <a:chExt cx="4227904" cy="184000"/>
          </a:xfrm>
        </p:grpSpPr>
        <p:sp>
          <p:nvSpPr>
            <p:cNvPr id="9" name="Freeform 9"/>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grpSp>
        <p:nvGrpSpPr>
          <p:cNvPr id="10" name="Group 10"/>
          <p:cNvGrpSpPr>
            <a:grpSpLocks noChangeAspect="1"/>
          </p:cNvGrpSpPr>
          <p:nvPr/>
        </p:nvGrpSpPr>
        <p:grpSpPr>
          <a:xfrm>
            <a:off x="0" y="-27276"/>
            <a:ext cx="13047052" cy="1072100"/>
            <a:chOff x="0" y="0"/>
            <a:chExt cx="17396069" cy="1429467"/>
          </a:xfrm>
        </p:grpSpPr>
        <p:sp>
          <p:nvSpPr>
            <p:cNvPr id="11" name="Freeform 11"/>
            <p:cNvSpPr/>
            <p:nvPr/>
          </p:nvSpPr>
          <p:spPr>
            <a:xfrm>
              <a:off x="0" y="0"/>
              <a:ext cx="17396079" cy="1429512"/>
            </a:xfrm>
            <a:custGeom>
              <a:avLst/>
              <a:gdLst/>
              <a:ahLst/>
              <a:cxnLst/>
              <a:rect l="l" t="t" r="r" b="b"/>
              <a:pathLst>
                <a:path w="17396079" h="1429512">
                  <a:moveTo>
                    <a:pt x="0" y="0"/>
                  </a:moveTo>
                  <a:lnTo>
                    <a:pt x="17396079" y="0"/>
                  </a:lnTo>
                  <a:lnTo>
                    <a:pt x="17396079" y="1429512"/>
                  </a:lnTo>
                  <a:lnTo>
                    <a:pt x="0" y="1429512"/>
                  </a:lnTo>
                  <a:lnTo>
                    <a:pt x="0" y="0"/>
                  </a:lnTo>
                  <a:close/>
                </a:path>
              </a:pathLst>
            </a:custGeom>
            <a:blipFill>
              <a:blip r:embed="rId6"/>
              <a:stretch>
                <a:fillRect t="-21939" b="-21936"/>
              </a:stretch>
            </a:blipFill>
          </p:spPr>
          <p:txBody>
            <a:bodyPr/>
            <a:lstStyle/>
            <a:p>
              <a:endParaRPr lang="en-US"/>
            </a:p>
          </p:txBody>
        </p:sp>
      </p:grpSp>
      <p:grpSp>
        <p:nvGrpSpPr>
          <p:cNvPr id="12" name="Group 12"/>
          <p:cNvGrpSpPr>
            <a:grpSpLocks noChangeAspect="1"/>
          </p:cNvGrpSpPr>
          <p:nvPr/>
        </p:nvGrpSpPr>
        <p:grpSpPr>
          <a:xfrm>
            <a:off x="530250" y="465936"/>
            <a:ext cx="3170928" cy="138000"/>
            <a:chOff x="0" y="0"/>
            <a:chExt cx="4227904" cy="184000"/>
          </a:xfrm>
        </p:grpSpPr>
        <p:sp>
          <p:nvSpPr>
            <p:cNvPr id="13" name="Freeform 13"/>
            <p:cNvSpPr/>
            <p:nvPr/>
          </p:nvSpPr>
          <p:spPr>
            <a:xfrm>
              <a:off x="0" y="0"/>
              <a:ext cx="4227957" cy="184023"/>
            </a:xfrm>
            <a:custGeom>
              <a:avLst/>
              <a:gdLst/>
              <a:ahLst/>
              <a:cxnLst/>
              <a:rect l="l" t="t" r="r" b="b"/>
              <a:pathLst>
                <a:path w="4227957" h="184023">
                  <a:moveTo>
                    <a:pt x="0" y="0"/>
                  </a:moveTo>
                  <a:lnTo>
                    <a:pt x="4227957" y="0"/>
                  </a:lnTo>
                  <a:lnTo>
                    <a:pt x="4227957" y="184023"/>
                  </a:lnTo>
                  <a:lnTo>
                    <a:pt x="0" y="184023"/>
                  </a:lnTo>
                  <a:lnTo>
                    <a:pt x="0" y="0"/>
                  </a:lnTo>
                  <a:close/>
                </a:path>
              </a:pathLst>
            </a:custGeom>
            <a:blipFill>
              <a:blip r:embed="rId5"/>
              <a:stretch>
                <a:fillRect l="-2" b="12"/>
              </a:stretch>
            </a:blipFill>
          </p:spPr>
          <p:txBody>
            <a:bodyPr/>
            <a:lstStyle/>
            <a:p>
              <a:endParaRPr lang="en-US"/>
            </a:p>
          </p:txBody>
        </p:sp>
      </p:grpSp>
      <p:sp>
        <p:nvSpPr>
          <p:cNvPr id="14" name="Freeform 14"/>
          <p:cNvSpPr/>
          <p:nvPr/>
        </p:nvSpPr>
        <p:spPr>
          <a:xfrm>
            <a:off x="406425" y="1236363"/>
            <a:ext cx="6128824" cy="4577418"/>
          </a:xfrm>
          <a:custGeom>
            <a:avLst/>
            <a:gdLst/>
            <a:ahLst/>
            <a:cxnLst/>
            <a:rect l="l" t="t" r="r" b="b"/>
            <a:pathLst>
              <a:path w="6128824" h="4577418">
                <a:moveTo>
                  <a:pt x="0" y="0"/>
                </a:moveTo>
                <a:lnTo>
                  <a:pt x="6128824" y="0"/>
                </a:lnTo>
                <a:lnTo>
                  <a:pt x="6128824" y="4577418"/>
                </a:lnTo>
                <a:lnTo>
                  <a:pt x="0" y="4577418"/>
                </a:lnTo>
                <a:lnTo>
                  <a:pt x="0" y="0"/>
                </a:lnTo>
                <a:close/>
              </a:path>
            </a:pathLst>
          </a:custGeom>
          <a:blipFill>
            <a:blip r:embed="rId7"/>
            <a:stretch>
              <a:fillRect/>
            </a:stretch>
          </a:blipFill>
        </p:spPr>
        <p:txBody>
          <a:bodyPr/>
          <a:lstStyle/>
          <a:p>
            <a:endParaRPr lang="en-US"/>
          </a:p>
        </p:txBody>
      </p:sp>
      <p:sp>
        <p:nvSpPr>
          <p:cNvPr id="15" name="Freeform 15"/>
          <p:cNvSpPr/>
          <p:nvPr/>
        </p:nvSpPr>
        <p:spPr>
          <a:xfrm>
            <a:off x="6626981" y="1696736"/>
            <a:ext cx="11130723" cy="3218522"/>
          </a:xfrm>
          <a:custGeom>
            <a:avLst/>
            <a:gdLst/>
            <a:ahLst/>
            <a:cxnLst/>
            <a:rect l="l" t="t" r="r" b="b"/>
            <a:pathLst>
              <a:path w="11130723" h="3218522">
                <a:moveTo>
                  <a:pt x="0" y="0"/>
                </a:moveTo>
                <a:lnTo>
                  <a:pt x="11130723" y="0"/>
                </a:lnTo>
                <a:lnTo>
                  <a:pt x="11130723" y="3218522"/>
                </a:lnTo>
                <a:lnTo>
                  <a:pt x="0" y="3218522"/>
                </a:lnTo>
                <a:lnTo>
                  <a:pt x="0" y="0"/>
                </a:lnTo>
                <a:close/>
              </a:path>
            </a:pathLst>
          </a:custGeom>
          <a:blipFill>
            <a:blip r:embed="rId8"/>
            <a:stretch>
              <a:fillRect/>
            </a:stretch>
          </a:blipFill>
        </p:spPr>
        <p:txBody>
          <a:bodyPr/>
          <a:lstStyle/>
          <a:p>
            <a:endParaRPr lang="en-US"/>
          </a:p>
        </p:txBody>
      </p:sp>
      <p:sp>
        <p:nvSpPr>
          <p:cNvPr id="16" name="Freeform 16"/>
          <p:cNvSpPr/>
          <p:nvPr/>
        </p:nvSpPr>
        <p:spPr>
          <a:xfrm>
            <a:off x="11824398" y="4636792"/>
            <a:ext cx="5434902" cy="4897733"/>
          </a:xfrm>
          <a:custGeom>
            <a:avLst/>
            <a:gdLst/>
            <a:ahLst/>
            <a:cxnLst/>
            <a:rect l="l" t="t" r="r" b="b"/>
            <a:pathLst>
              <a:path w="5434902" h="4897733">
                <a:moveTo>
                  <a:pt x="0" y="0"/>
                </a:moveTo>
                <a:lnTo>
                  <a:pt x="5434902" y="0"/>
                </a:lnTo>
                <a:lnTo>
                  <a:pt x="5434902" y="4897733"/>
                </a:lnTo>
                <a:lnTo>
                  <a:pt x="0" y="4897733"/>
                </a:lnTo>
                <a:lnTo>
                  <a:pt x="0" y="0"/>
                </a:lnTo>
                <a:close/>
              </a:path>
            </a:pathLst>
          </a:custGeom>
          <a:blipFill>
            <a:blip r:embed="rId9"/>
            <a:stretch>
              <a:fillRect l="-514"/>
            </a:stretch>
          </a:blipFill>
        </p:spPr>
        <p:txBody>
          <a:bodyPr/>
          <a:lstStyle/>
          <a:p>
            <a:endParaRPr lang="en-US"/>
          </a:p>
        </p:txBody>
      </p:sp>
      <p:sp>
        <p:nvSpPr>
          <p:cNvPr id="17" name="TextBox 17"/>
          <p:cNvSpPr txBox="1"/>
          <p:nvPr/>
        </p:nvSpPr>
        <p:spPr>
          <a:xfrm>
            <a:off x="3276116" y="6718656"/>
            <a:ext cx="6701730" cy="1438275"/>
          </a:xfrm>
          <a:prstGeom prst="rect">
            <a:avLst/>
          </a:prstGeom>
        </p:spPr>
        <p:txBody>
          <a:bodyPr lIns="0" tIns="0" rIns="0" bIns="0" rtlCol="0" anchor="t">
            <a:spAutoFit/>
          </a:bodyPr>
          <a:lstStyle/>
          <a:p>
            <a:pPr algn="ctr">
              <a:lnSpc>
                <a:spcPts val="3726"/>
              </a:lnSpc>
            </a:pPr>
            <a:r>
              <a:rPr lang="en-US" sz="3105" b="1">
                <a:solidFill>
                  <a:srgbClr val="000000"/>
                </a:solidFill>
                <a:latin typeface="Poppins Bold"/>
                <a:ea typeface="Poppins Bold"/>
                <a:cs typeface="Poppins Bold"/>
                <a:sym typeface="Poppins Bold"/>
              </a:rPr>
              <a:t>Payment Method</a:t>
            </a:r>
          </a:p>
          <a:p>
            <a:pPr algn="ctr">
              <a:lnSpc>
                <a:spcPts val="3726"/>
              </a:lnSpc>
            </a:pPr>
            <a:r>
              <a:rPr lang="en-US" sz="3105" b="1">
                <a:solidFill>
                  <a:srgbClr val="000000"/>
                </a:solidFill>
                <a:latin typeface="Poppins Bold"/>
                <a:ea typeface="Poppins Bold"/>
                <a:cs typeface="Poppins Bold"/>
                <a:sym typeface="Poppins Bold"/>
              </a:rPr>
              <a:t>60% of tickets paid by credit card</a:t>
            </a:r>
          </a:p>
          <a:p>
            <a:pPr algn="ctr">
              <a:lnSpc>
                <a:spcPts val="3726"/>
              </a:lnSpc>
              <a:spcBef>
                <a:spcPct val="0"/>
              </a:spcBef>
            </a:pPr>
            <a:r>
              <a:rPr lang="en-US" sz="3105" b="1">
                <a:solidFill>
                  <a:srgbClr val="000000"/>
                </a:solidFill>
                <a:latin typeface="Poppins Bold"/>
                <a:ea typeface="Poppins Bold"/>
                <a:cs typeface="Poppins Bold"/>
                <a:sym typeface="Poppins Bold"/>
              </a:rPr>
              <a:t>15% is a cotactless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dd-in_Banner">
            <a:extLst>
              <a:ext uri="{FF2B5EF4-FFF2-40B4-BE49-F238E27FC236}">
                <a16:creationId xmlns:a16="http://schemas.microsoft.com/office/drawing/2014/main" id="{3469E413-BCF5-4E2F-BE4B-EB617C589FA5}"/>
              </a:ext>
            </a:extLst>
          </p:cNvPr>
          <p:cNvSpPr txBox="1">
            <a:spLocks noGrp="1"/>
          </p:cNvSpPr>
          <p:nvPr>
            <p:ph type="title"/>
          </p:nvPr>
        </p:nvSpPr>
        <p:spPr>
          <a:xfrm>
            <a:off x="0" y="-35986"/>
            <a:ext cx="18288000" cy="960772"/>
          </a:xfrm>
          <a:prstGeom prst="rect">
            <a:avLst/>
          </a:prstGeom>
          <a:solidFill>
            <a:srgbClr val="494748">
              <a:alpha val="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998000" tIns="270000" rIns="324000" bIns="270000" numCol="1" spcCol="0" rtlCol="0" fromWordArt="0" anchor="ctr" anchorCtr="0" forceAA="0" compatLnSpc="1">
            <a:prstTxWarp prst="textNoShape">
              <a:avLst/>
            </a:prstTxWarp>
            <a:spAutoFit/>
          </a:bodyPr>
          <a:lstStyle/>
          <a:p>
            <a:pPr algn="l"/>
            <a:r>
              <a:rPr lang="en-GB" sz="2700" dirty="0">
                <a:solidFill>
                  <a:srgbClr val="000000"/>
                </a:solidFill>
                <a:latin typeface="Segoe UI Light" panose="020B0502040204020203" pitchFamily="34" charset="0"/>
                <a:ea typeface="Calibri" panose="020F0502020204030204" pitchFamily="34" charset="0"/>
                <a:cs typeface="Segoe UI Light" panose="020B0502040204020203" pitchFamily="34" charset="0"/>
              </a:rPr>
              <a:t>Microsoft Power BI</a:t>
            </a:r>
            <a:endParaRPr lang="en-IE" sz="1800" dirty="0">
              <a:latin typeface="Segoe UI Light" panose="020B0502040204020203" pitchFamily="34" charset="0"/>
              <a:ea typeface="Calibri" panose="020F0502020204030204" pitchFamily="34" charset="0"/>
              <a:cs typeface="Segoe UI Light" panose="020B0502040204020203" pitchFamily="34" charset="0"/>
            </a:endParaRPr>
          </a:p>
        </p:txBody>
      </p:sp>
      <p:pic>
        <p:nvPicPr>
          <p:cNvPr id="7" name="Add-in_Icon" descr="Icon for Microsoft Power BI.">
            <a:extLst>
              <a:ext uri="{FF2B5EF4-FFF2-40B4-BE49-F238E27FC236}">
                <a16:creationId xmlns:a16="http://schemas.microsoft.com/office/drawing/2014/main" id="{87D43E1C-7B4D-44A2-8E6D-6786349BFB58}"/>
              </a:ext>
            </a:extLst>
          </p:cNvPr>
          <p:cNvPicPr/>
          <p:nvPr/>
        </p:nvPicPr>
        <p:blipFill>
          <a:blip r:embed="rId2"/>
          <a:stretch>
            <a:fillRect/>
          </a:stretch>
        </p:blipFill>
        <p:spPr bwMode="auto">
          <a:xfrm>
            <a:off x="1371601" y="232469"/>
            <a:ext cx="437198" cy="437198"/>
          </a:xfrm>
          <a:prstGeom prst="rect">
            <a:avLst/>
          </a:prstGeom>
          <a:noFill/>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descr="Add-in content for Microsoft Power BI."/>
              <p:cNvGraphicFramePr>
                <a:graphicFrameLocks noGrp="1"/>
              </p:cNvGraphicFramePr>
              <p:nvPr>
                <p:extLst>
                  <p:ext uri="{D42A27DB-BD31-4B8C-83A1-F6EECF244321}">
                    <p14:modId xmlns:p14="http://schemas.microsoft.com/office/powerpoint/2010/main" val="724938482"/>
                  </p:ext>
                </p:extLst>
              </p:nvPr>
            </p:nvGraphicFramePr>
            <p:xfrm>
              <a:off x="0" y="924786"/>
              <a:ext cx="18288000" cy="936221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descr="Add-in content for Microsoft Power BI."/>
              <p:cNvPicPr>
                <a:picLocks noGrp="1" noRot="1" noChangeAspect="1" noMove="1" noResize="1" noEditPoints="1" noAdjustHandles="1" noChangeArrowheads="1" noChangeShapeType="1"/>
              </p:cNvPicPr>
              <p:nvPr/>
            </p:nvPicPr>
            <p:blipFill>
              <a:blip r:embed="rId4"/>
              <a:stretch>
                <a:fillRect/>
              </a:stretch>
            </p:blipFill>
            <p:spPr>
              <a:xfrm>
                <a:off x="0" y="924786"/>
                <a:ext cx="18288000" cy="9362214"/>
              </a:xfrm>
              <a:prstGeom prst="rect">
                <a:avLst/>
              </a:prstGeom>
            </p:spPr>
          </p:pic>
        </mc:Fallback>
      </mc:AlternateContent>
    </p:spTree>
    <p:extLst>
      <p:ext uri="{BB962C8B-B14F-4D97-AF65-F5344CB8AC3E}">
        <p14:creationId xmlns:p14="http://schemas.microsoft.com/office/powerpoint/2010/main" val="3211859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80d9879f-3a74-4636-86e8-89b95a49fdae}">
  <we:reference id="WA200003233" version="2.0.0.3" store="en-US" storeType="OMEX"/>
  <we:alternateReferences/>
  <we:properties>
    <we:property name="Microsoft.Office.CampaignId" value="&quot;none&quot;"/>
    <we:property name="backgroundColor" value="&quot;#FFFFFF&quot;"/>
    <we:property name="bookmark" value="&quot;H4sIAAAAAAAAA+1bbVPbOBD+KxnP3PRL6MiyXqx+a4HOtQc3PWC4DzcMI0vrxMWxc7JDyTH891u/AIEkJE2BFJovYEvr1bOr3UcrIS49mxTDVI//1APw3nkf8vxsoN1Zx/e6Xta0UWKJ1LEKjPap5jYQpurNh2WSZ4X37tIrtetBeZwUI51WirDxn5Oup9P0i+5Vb7FOC+h6Q3BFnuk0+Q8aYewq3Qiuuh5cDNPc6UrlYalLqNSeozi+IwT/bYAjalMm53AIpmxbheScgCIWqB9YrYxmKFY0AjWymSKV6nr47TwrdZLhMFWbpjEEhFFmlBYgTCAIqdqLJOulLeDbb4/Gw8o5yQAtrLwRfcVhKz1XV2iOYSaMY6tAUU2DgERWrKwrhsjnOiYcQuEHiksuV9fFBQ2VUZZKLSjCC4RaqKvo6+EMXZGMtBKMBEEYhlIyiIReFZcEKk2oQgo0wgmTIbfhQl0lXJRRfjGtDShww30tCUQqZD6XOlrVSp9a5dMQM0BEhIAxxNjq2zhJyzZwovHuxdBhzF9ep0yobaRZHFKiTUSs8TGaUHXZjLSN8d3LXWIQRbdVVOk5vo532vU+unxQa2wTs5LczcqkHOPLXo6f7qCWIx2lcArgx4JRskVkFG8xpoIt7RO5FSAIwywRgmr8vLGTXGFm/t0HB7V6TAGbNPl06X2qf1bGQFE0KVSLpKPBvZ7q7TAfOQMHEN++1EArr31xOSZ7DXYfk6yPjTjssU5HNTmg1r0ErW6moW5GyTefdTbSbvymlp4j8xEit1BoXzvTf1Di/dAlaS1xgtN80jDQhHG/J/gJKhnvwTmk08bf9E93Xdt+rF3SEFrrmwcdeDO5+4BkamsvtnN/o8i749ijxJxBWbytAqGTx53PqC6Dcf3lBDyv7r9tqLpbo27mpuv182/bDlASg5sgf2nTB7tzuzY0oZDUoV8YxPCpftzOB0NEVzQG3b79kWSNoj2Iy6ZriSD6oQCfE3Zd7yDp9WsMC0KuTve7y2Hb6111X6Ptk6k0w/jr7ldq/Q1HzDC97nuldt8w3wy76z4P6bAixAdXS23PdWbAHqaJAdcKTS2ewmdWhZxwLiMiidDE8PmL58zl8S4tf59TJ6h0wk87yeB0B4anVZ2Jn7/FZ+3KkYNO2zJNiFUktOjet4ZPQXvf6zno6eu1dPfRcbf8XqMcFXXvx1HWFsN8GvPCOTw0Lk9TlDjCQqqR8RkLpeJYBnMS3p1PfHEW3IdxPVc7ibuuw7Fa2f25PIGmY1PIIquwljTGl5ZQrMXCYPWa0jc8jGKNVa7hTBFDfRALQ3lusOyDLkZulZpgsgDIS512jlwyLFYL2UdBsQPIH2A7JeJYI4zfOpNA1ukQB/Eosx0H/2KxW3bi3HVsA23toNA7g/y6RvxOtjDa2Vk8vzwvPEHQN5keSIiZICGTURgEgRSk2Yk+uEcLFDO4SYtMaHV1tmGJr35sjzaY3KO16J9r2zVYyJFL7L/aDHpgW/RE7D0Ziv5ETjxUCvzSO7TXWZBolN3uYzF2n2Gakz8c+uvE2V4bHA3v/FrRcNIecwlirYosY4YprHaMXHw0taG9n5/2Xk5KL0fVj4HsAIuHPKurqXq+VilhsATKYOXyZe3Or2J5MRM+kbMbyhHa4AYRBLcsMNZSn3OzoZwN5bxSyqk3cgfNRm4VwrF5NipnVjQb0lns7oZyoigIaSxpYEggDCEaGNtQzgulnJe5cXk+ylnlbHrxyU06KjAewDYIN3z0eHPRUJQmQRBDIKySkhsecbnE+ZOKIKRWiNC3nAgGgSTwi1PUdsUHafoiSOpRDjMH+qI5G14nBrCJztYPI1k/hk9/HaxxdPxtAEVSOKX8dN2+mEAj56NZuPakSQaYZubsZvXJB1H+Q0vQEzr7+RaXaXqsVxLKDPcjBTYMgFGtsYRdfHNtzp06LsHGXPlGKiaBxcZf4k7dHF1CchtRIaz0jdCoTamVdUGMa6WSwgdfsZBSGgabG3UPLK2bG3Uv8IT+3knL5kbd5kbd5kbdK7V7qRt1z3eGcMti4/sk9r1/j13ikl9t820LbicQU/WQj8piqA180VmzMA4biAnUcmi3ri6ktM9ujnPr/xxpXFstK1f/A1VrbdOxMgAA&quot;"/>
    <we:property name="creatorSessionId" value="&quot;eef0caf4-c56c-447d-9394-85ab7ae314fd&quot;"/>
    <we:property name="creatorTenantId" value="&quot;1158e2d5-dc24-41ad-abce-62841076dbde&quot;"/>
    <we:property name="creatorUserId" value="&quot;100320053C9F20AC&quot;"/>
    <we:property name="datasetId" value="&quot;cfce2666-17c6-4286-b3e3-2125f88dd117&quot;"/>
    <we:property name="embedUrl" value="&quot;/reportEmbed?reportId=49bfea0b-d8b6-4127-a984-e5902331d951&amp;config=eyJjbHVzdGVyVXJsIjoiaHR0cHM6Ly9XQUJJLVdFU1QtVVMtQi1QUklNQVJZLXJlZGlyZWN0LmFuYWx5c2lzLndpbmRvd3MubmV0IiwiZW1iZWRGZWF0dXJlcyI6eyJ1c2FnZU1ldHJpY3NWTmV4dCI6dHJ1ZX19&amp;disableSensitivityBanner=true&amp;storytellingChangeViewModeShortcutKeys=true&quot;"/>
    <we:property name="initialStateBookmark" value="&quot;H4sIAAAAAAAAA+0aa0/bSPCvRJZO/RKq3fX61W8UqK4ttBwg7sMJoX2ME7eOnVs7HDnEf7/x2gmBPHF5pNXxAe1jdnbeMzvOjaOTYpiK8RcxAOed8z7Pvw+E+d6hTtfJmrWvXz8f7Z58vvyye3SAy/mwTPKscN7dOKUwPSjPk2Ik0goDLv510XVEmh6LXjWLRVpA1xmCKfJMpMm/UAPjVmlGcNt14HqY5kZUKE9LUUKF9grBcY5307cu3ihUmVzBKaiyXpWESOYSXxPKCSER9yFCsKIGsJQtBKlQ2+v38qwUSYbXVGsBY4IyHfIgiMJIR0xxS0aRZL20Ifju7Nl4WEklGSCHlTTkN7y2wnN7i+zIGGIPfM8lYRT6JAw4YW1x0SAMGBU+8TzC3UjLUPptcYGmhDPmERqA5JwASNKaLhWziPJACeV5zPNEFIq1uIq+GC7A5QvpuYozikghIl4kdNRa9siV5wrXk8hnGDIOsj0uT6LA0XIkCX3GFPh8Pa4SrkuZX89jUxrcEID5YUCByUC7LGgtsdCNXV974IVEcy6V9sLqbJykZWPQcnxwPTToizcTHw6FloLHISNCSaIV9VXlWGV90x76XS83iUIqug2iCs/5xA9Z1/lg8oHF2ESKCvIgK5NyjJPDHI/uI5YzIVO4BKCxzxnZIYGMdziP3B1BSbDjIhGKa+L7TODxmk9yixHjzz4YsOjRNXVS+/mN89H+r5iBoqhd24Kko8GDnWp2mo+MghOI7yaW0EpqxybHIGSJPULn7+MiXnsu0pENWoj1MEGuazXYZYR880lkI2HGbyz0EpgPIM1aoCNhVH8lxO7QJKmFuEA1X9SRcYa53xM8gkjGh3AF6Tzz0/35rQnv58IkdaBtZLNSgFPlHgEGeW2l2Oh+isi5J9izRH2HsnhbGUInjzufEF0GY3tyhjzH7t8tVNsNU1PddJ1+/s+eAYTUaCLoQUL1Qe/fJavaFBJt3UghDR/tcC8fDJG6ombobvY5yWpEhxCX9dYGRvRDBr7E7LrOSdLrWxrWmJx19/v5udl1bru/Iu+zrrSA+cn2L8r9NEYsYN3u/aJ8TyPfAr7tnoPhsAqIK7Ol0FciU6BP00SBaYDmyyDGInADRYKAEi8IJGUrkufC9Hg/LD9OqDOhdEZO+8ngch+Gl1X9i8ff4liYcmSg06zMB8TKEhrqdhvG50jb7fUM9MQklx48Od1NfLdUjgq7+2GUNUW6N0/zWh2eKpOnKUKcYSFVw1DOwyDCcppjSXdfnzgxGsz7sdXVfmIm7wOsVg62SxLIOi65VKo4UCwIGJdcUSE3eGcsrSmJH0QuOp4nZED8iEVRBGtNeamxHIEoRqZNTTBbAOSlSDtnJhkW7Uz2SajYB4wfoDsl0vGKZPzWmSXkNQViIB5lumPgbyx2y06cm46uSXt1olA6g3xSIz4yWihh9KI4v3lceAajrz0dX/0eZYSogFDlKp+DID9lmnmqtBvHHgMeeUqzkLhU4/tzK+Sxa0xyJdKpTJo5um5RJtkzSwVf5PisoZHnh0HogQjDqHWvyBci8HgMVDDXJVGoXU+3zwbPnjDPjMgKYf2y83F/fenQfTGruHvEjh++YR9pBFjIwF4fXWxry5Z1WqhaJHXvFQ99m+muNkoYb96OaSv1i7p/5saxJhHlEcfyiYdEhMFWxI+fsWyfyPoYRQMPlE5+PpJpC9cciOFDp3wZO9/EZi6aNm8UA1cBdTF5xqH0mfTWmvxZPvyycQe3GEksCJG5h3HndLKB4z8mg1WYBrO94Ibxe+3dU0hRqi2at4MWApy2KeMEUtQA3v/1xSLucsrXuF1FJqqvjrsT4bHK+zYV8jP20NuowTJU9Y6Wo51aoO39zPe8/4/STxmln/C1Y+AKshG0qYqkMFteFK33023LFW4sIhoHvudSFXIeKOKubwU9XXnUSOwh/ccI2xcFdKzmX9vLlhD52IfIWvvWeTYqt8XCWzL9HDa+oZHUBs0j31M+ePg2Vq6kMYX6FwYrv3Ezpqnn+0xp6vpB5FOXyB/7xr1VKXeux7zB9+u9yq3SFPSKD8vP1P+edRv6gu/3E8xyaNZVk9P2X1+xxakm0l/Win6BYPI8jLxcElygzovb5lPhnUCcQXW4GuSjshgKBcciqx1zWONKwMKhlkXVdW7GNgIscBz7szXHXoL6SJoidsWB6sdskyoW//4DCP1tF1cnAAA=&quot;"/>
    <we:property name="isFiltersActionButtonVisible" value="true"/>
    <we:property name="isVisualContainerHeaderHidden" value="false"/>
    <we:property name="pageDisplayName" value="&quot;Delayed Trips&quot;"/>
    <we:property name="pageName" value="&quot;167550e90de213da9ca4&quot;"/>
    <we:property name="reportEmbeddedTime" value="&quot;2025-11-07T13:36:53.008Z&quot;"/>
    <we:property name="reportName" value="&quot;UK Train Ride 14 (2)&quot;"/>
    <we:property name="reportState" value="&quot;CONNECTED&quot;"/>
    <we:property name="reportUrl" value="&quot;/groups/me/reports/49bfea0b-d8b6-4127-a984-e5902331d951/167550e90de213da9ca4?bookmarkGuid=6c7f3bc5-b07b-4672-836f-93430ca0591c&amp;bookmarkUsage=1&amp;ctid=1158e2d5-dc24-41ad-abce-62841076dbde&amp;fromEntryPoint=export&amp;pbi_source=storytelling_addin&quot;"/>
    <we:property name="artifactViewState" value="&quot;liv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95</TotalTime>
  <Words>687</Words>
  <Application>Microsoft Office PowerPoint</Application>
  <PresentationFormat>Custom</PresentationFormat>
  <Paragraphs>154</Paragraphs>
  <Slides>25</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Poppins Bold</vt:lpstr>
      <vt:lpstr>Segoe UI Light</vt:lpstr>
      <vt:lpstr>Calibri</vt:lpstr>
      <vt:lpstr>Poppins</vt:lpstr>
      <vt:lpstr>Arial</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Microsoft Power BI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 Train Rides New.pptx</dc:title>
  <cp:lastModifiedBy>Ahmed Essam eldin Ibrahim</cp:lastModifiedBy>
  <cp:revision>9</cp:revision>
  <dcterms:created xsi:type="dcterms:W3CDTF">2006-08-16T00:00:00Z</dcterms:created>
  <dcterms:modified xsi:type="dcterms:W3CDTF">2025-11-19T12:02:55Z</dcterms:modified>
  <dc:identifier>DAG3W2DVsvk</dc:identifier>
</cp:coreProperties>
</file>